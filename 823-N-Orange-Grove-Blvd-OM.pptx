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3657600" cy="228600"/>
          </a:xfrm>
          <a:prstGeom prst="rect">
            <a:avLst/>
          </a:prstGeom>
          <a:noFill/>
        </p:spPr>
        <p:txBody>
          <a:bodyPr wrap="square">
            <a:spAutoFit/>
          </a:bodyPr>
          <a:lstStyle/>
          <a:p>
            <a:pPr algn="l"/>
            <a:r>
              <a:rPr sz="1000" b="1">
                <a:solidFill>
                  <a:srgbClr val="0D9488"/>
                </a:solidFill>
                <a:latin typeface="Calibri"/>
              </a:rPr>
              <a:t>LUCID DEVELOPMENT</a:t>
            </a:r>
          </a:p>
        </p:txBody>
      </p:sp>
      <p:sp>
        <p:nvSpPr>
          <p:cNvPr id="5" name="Rectangle 4"/>
          <p:cNvSpPr/>
          <p:nvPr/>
        </p:nvSpPr>
        <p:spPr>
          <a:xfrm>
            <a:off x="640080" y="1280160"/>
            <a:ext cx="109728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4572000" cy="457200"/>
          </a:xfrm>
          <a:prstGeom prst="rect">
            <a:avLst/>
          </a:prstGeom>
          <a:noFill/>
        </p:spPr>
        <p:txBody>
          <a:bodyPr wrap="square">
            <a:spAutoFit/>
          </a:bodyPr>
          <a:lstStyle/>
          <a:p>
            <a:pPr algn="l"/>
            <a:r>
              <a:rPr sz="3000" b="1">
                <a:solidFill>
                  <a:srgbClr val="1E293B"/>
                </a:solidFill>
                <a:latin typeface="Georgia"/>
              </a:rPr>
              <a:t>823 N ORANGE GROVE BLVD</a:t>
            </a:r>
          </a:p>
        </p:txBody>
      </p:sp>
      <p:sp>
        <p:nvSpPr>
          <p:cNvPr id="7" name="TextBox 6"/>
          <p:cNvSpPr txBox="1"/>
          <p:nvPr/>
        </p:nvSpPr>
        <p:spPr>
          <a:xfrm>
            <a:off x="640080" y="2011680"/>
            <a:ext cx="4572000" cy="274320"/>
          </a:xfrm>
          <a:prstGeom prst="rect">
            <a:avLst/>
          </a:prstGeom>
          <a:noFill/>
        </p:spPr>
        <p:txBody>
          <a:bodyPr wrap="square">
            <a:spAutoFit/>
          </a:bodyPr>
          <a:lstStyle/>
          <a:p>
            <a:pPr algn="l"/>
            <a:r>
              <a:rPr sz="1400" b="0">
                <a:solidFill>
                  <a:srgbClr val="64748B"/>
                </a:solidFill>
                <a:latin typeface="Calibri"/>
              </a:rPr>
              <a:t>, CA </a:t>
            </a:r>
          </a:p>
        </p:txBody>
      </p:sp>
      <p:sp>
        <p:nvSpPr>
          <p:cNvPr id="8" name="TextBox 7"/>
          <p:cNvSpPr txBox="1"/>
          <p:nvPr/>
        </p:nvSpPr>
        <p:spPr>
          <a:xfrm>
            <a:off x="640080" y="2560320"/>
            <a:ext cx="4572000" cy="182880"/>
          </a:xfrm>
          <a:prstGeom prst="rect">
            <a:avLst/>
          </a:prstGeom>
          <a:noFill/>
        </p:spPr>
        <p:txBody>
          <a:bodyPr wrap="square">
            <a:spAutoFit/>
          </a:bodyPr>
          <a:lstStyle/>
          <a:p>
            <a:pPr algn="l"/>
            <a:r>
              <a:rPr sz="900" b="1">
                <a:solidFill>
                  <a:srgbClr val="94A3B8"/>
                </a:solidFill>
                <a:latin typeface="Calibri"/>
              </a:rPr>
              <a:t>CONFIDENTIAL OFFERING MEMORANDUM</a:t>
            </a:r>
          </a:p>
        </p:txBody>
      </p:sp>
      <p:sp>
        <p:nvSpPr>
          <p:cNvPr id="9" name="TextBox 8"/>
          <p:cNvSpPr txBox="1"/>
          <p:nvPr/>
        </p:nvSpPr>
        <p:spPr>
          <a:xfrm>
            <a:off x="640080" y="2788920"/>
            <a:ext cx="4572000" cy="182880"/>
          </a:xfrm>
          <a:prstGeom prst="rect">
            <a:avLst/>
          </a:prstGeom>
          <a:noFill/>
        </p:spPr>
        <p:txBody>
          <a:bodyPr wrap="square">
            <a:spAutoFit/>
          </a:bodyPr>
          <a:lstStyle/>
          <a:p>
            <a:pPr algn="l"/>
            <a:r>
              <a:rPr sz="900" b="0">
                <a:solidFill>
                  <a:srgbClr val="0D9488"/>
                </a:solidFill>
                <a:latin typeface="Calibri"/>
              </a:rPr>
              <a:t>SB 1123 By-Right Development  |  9-Unit Townhome Community</a:t>
            </a:r>
          </a:p>
        </p:txBody>
      </p:sp>
      <p:sp>
        <p:nvSpPr>
          <p:cNvPr id="10" name="Rectangle 9"/>
          <p:cNvSpPr/>
          <p:nvPr/>
        </p:nvSpPr>
        <p:spPr>
          <a:xfrm>
            <a:off x="5760720" y="1097280"/>
            <a:ext cx="45720"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0" y="1115568"/>
            <a:ext cx="2743200" cy="320040"/>
          </a:xfrm>
          <a:prstGeom prst="rect">
            <a:avLst/>
          </a:prstGeom>
          <a:noFill/>
        </p:spPr>
        <p:txBody>
          <a:bodyPr wrap="square">
            <a:spAutoFit/>
          </a:bodyPr>
          <a:lstStyle/>
          <a:p>
            <a:pPr algn="l"/>
            <a:r>
              <a:rPr sz="2000" b="1">
                <a:solidFill>
                  <a:srgbClr val="1E293B"/>
                </a:solidFill>
                <a:latin typeface="Calibri"/>
              </a:rPr>
              <a:t>$2.5M</a:t>
            </a:r>
          </a:p>
        </p:txBody>
      </p:sp>
      <p:sp>
        <p:nvSpPr>
          <p:cNvPr id="12" name="TextBox 11"/>
          <p:cNvSpPr txBox="1"/>
          <p:nvPr/>
        </p:nvSpPr>
        <p:spPr>
          <a:xfrm>
            <a:off x="5943600" y="1463040"/>
            <a:ext cx="2743200" cy="182880"/>
          </a:xfrm>
          <a:prstGeom prst="rect">
            <a:avLst/>
          </a:prstGeom>
          <a:noFill/>
        </p:spPr>
        <p:txBody>
          <a:bodyPr wrap="square">
            <a:spAutoFit/>
          </a:bodyPr>
          <a:lstStyle/>
          <a:p>
            <a:pPr algn="l"/>
            <a:r>
              <a:rPr sz="800" b="0">
                <a:solidFill>
                  <a:srgbClr val="64748B"/>
                </a:solidFill>
                <a:latin typeface="Calibri"/>
              </a:rPr>
              <a:t>Target Equity Raise</a:t>
            </a:r>
          </a:p>
        </p:txBody>
      </p:sp>
      <p:sp>
        <p:nvSpPr>
          <p:cNvPr id="13" name="Rectangle 12"/>
          <p:cNvSpPr/>
          <p:nvPr/>
        </p:nvSpPr>
        <p:spPr>
          <a:xfrm>
            <a:off x="5760720" y="1920240"/>
            <a:ext cx="45720"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1938528"/>
            <a:ext cx="2743200" cy="320040"/>
          </a:xfrm>
          <a:prstGeom prst="rect">
            <a:avLst/>
          </a:prstGeom>
          <a:noFill/>
        </p:spPr>
        <p:txBody>
          <a:bodyPr wrap="square">
            <a:spAutoFit/>
          </a:bodyPr>
          <a:lstStyle/>
          <a:p>
            <a:pPr algn="l"/>
            <a:r>
              <a:rPr sz="2000" b="1">
                <a:solidFill>
                  <a:srgbClr val="1E293B"/>
                </a:solidFill>
                <a:latin typeface="Calibri"/>
              </a:rPr>
              <a:t>3.10x</a:t>
            </a:r>
          </a:p>
        </p:txBody>
      </p:sp>
      <p:sp>
        <p:nvSpPr>
          <p:cNvPr id="15" name="TextBox 14"/>
          <p:cNvSpPr txBox="1"/>
          <p:nvPr/>
        </p:nvSpPr>
        <p:spPr>
          <a:xfrm>
            <a:off x="5943600" y="2286000"/>
            <a:ext cx="2743200" cy="182880"/>
          </a:xfrm>
          <a:prstGeom prst="rect">
            <a:avLst/>
          </a:prstGeom>
          <a:noFill/>
        </p:spPr>
        <p:txBody>
          <a:bodyPr wrap="square">
            <a:spAutoFit/>
          </a:bodyPr>
          <a:lstStyle/>
          <a:p>
            <a:pPr algn="l"/>
            <a:r>
              <a:rPr sz="800" b="0">
                <a:solidFill>
                  <a:srgbClr val="64748B"/>
                </a:solidFill>
                <a:latin typeface="Calibri"/>
              </a:rPr>
              <a:t>Target MOIC</a:t>
            </a:r>
          </a:p>
        </p:txBody>
      </p:sp>
      <p:sp>
        <p:nvSpPr>
          <p:cNvPr id="16" name="Rectangle 15"/>
          <p:cNvSpPr/>
          <p:nvPr/>
        </p:nvSpPr>
        <p:spPr>
          <a:xfrm>
            <a:off x="5760720" y="2743200"/>
            <a:ext cx="45720"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0" y="2761488"/>
            <a:ext cx="2743200" cy="320040"/>
          </a:xfrm>
          <a:prstGeom prst="rect">
            <a:avLst/>
          </a:prstGeom>
          <a:noFill/>
        </p:spPr>
        <p:txBody>
          <a:bodyPr wrap="square">
            <a:spAutoFit/>
          </a:bodyPr>
          <a:lstStyle/>
          <a:p>
            <a:pPr algn="l"/>
            <a:r>
              <a:rPr sz="2000" b="1">
                <a:solidFill>
                  <a:srgbClr val="1E293B"/>
                </a:solidFill>
                <a:latin typeface="Calibri"/>
              </a:rPr>
              <a:t>76.0%</a:t>
            </a:r>
          </a:p>
        </p:txBody>
      </p:sp>
      <p:sp>
        <p:nvSpPr>
          <p:cNvPr id="18" name="TextBox 17"/>
          <p:cNvSpPr txBox="1"/>
          <p:nvPr/>
        </p:nvSpPr>
        <p:spPr>
          <a:xfrm>
            <a:off x="5943600" y="3108960"/>
            <a:ext cx="2743200" cy="182880"/>
          </a:xfrm>
          <a:prstGeom prst="rect">
            <a:avLst/>
          </a:prstGeom>
          <a:noFill/>
        </p:spPr>
        <p:txBody>
          <a:bodyPr wrap="square">
            <a:spAutoFit/>
          </a:bodyPr>
          <a:lstStyle/>
          <a:p>
            <a:pPr algn="l"/>
            <a:r>
              <a:rPr sz="800" b="0">
                <a:solidFill>
                  <a:srgbClr val="64748B"/>
                </a:solidFill>
                <a:latin typeface="Calibri"/>
              </a:rPr>
              <a:t>Target IRR</a:t>
            </a:r>
          </a:p>
        </p:txBody>
      </p:sp>
      <p:sp>
        <p:nvSpPr>
          <p:cNvPr id="19" name="Rectangle 18"/>
          <p:cNvSpPr/>
          <p:nvPr/>
        </p:nvSpPr>
        <p:spPr>
          <a:xfrm>
            <a:off x="5760720" y="3566160"/>
            <a:ext cx="45720"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0" y="3584448"/>
            <a:ext cx="2743200" cy="320040"/>
          </a:xfrm>
          <a:prstGeom prst="rect">
            <a:avLst/>
          </a:prstGeom>
          <a:noFill/>
        </p:spPr>
        <p:txBody>
          <a:bodyPr wrap="square">
            <a:spAutoFit/>
          </a:bodyPr>
          <a:lstStyle/>
          <a:p>
            <a:pPr algn="l"/>
            <a:r>
              <a:rPr sz="2000" b="1">
                <a:solidFill>
                  <a:srgbClr val="1E293B"/>
                </a:solidFill>
                <a:latin typeface="Calibri"/>
              </a:rPr>
              <a:t>~24 mo.</a:t>
            </a:r>
          </a:p>
        </p:txBody>
      </p:sp>
      <p:sp>
        <p:nvSpPr>
          <p:cNvPr id="21" name="TextBox 20"/>
          <p:cNvSpPr txBox="1"/>
          <p:nvPr/>
        </p:nvSpPr>
        <p:spPr>
          <a:xfrm>
            <a:off x="5943600" y="3931920"/>
            <a:ext cx="2743200" cy="182880"/>
          </a:xfrm>
          <a:prstGeom prst="rect">
            <a:avLst/>
          </a:prstGeom>
          <a:noFill/>
        </p:spPr>
        <p:txBody>
          <a:bodyPr wrap="square">
            <a:spAutoFit/>
          </a:bodyPr>
          <a:lstStyle/>
          <a:p>
            <a:pPr algn="l"/>
            <a:r>
              <a:rPr sz="800" b="0">
                <a:solidFill>
                  <a:srgbClr val="64748B"/>
                </a:solidFill>
                <a:latin typeface="Calibri"/>
              </a:rPr>
              <a:t>Target Hold</a:t>
            </a:r>
          </a:p>
        </p:txBody>
      </p:sp>
      <p:sp>
        <p:nvSpPr>
          <p:cNvPr id="22" name="TextBox 21"/>
          <p:cNvSpPr txBox="1"/>
          <p:nvPr/>
        </p:nvSpPr>
        <p:spPr>
          <a:xfrm>
            <a:off x="640080" y="4572000"/>
            <a:ext cx="2743200" cy="182880"/>
          </a:xfrm>
          <a:prstGeom prst="rect">
            <a:avLst/>
          </a:prstGeom>
          <a:noFill/>
        </p:spPr>
        <p:txBody>
          <a:bodyPr wrap="square">
            <a:spAutoFit/>
          </a:bodyPr>
          <a:lstStyle/>
          <a:p>
            <a:pPr algn="l"/>
            <a:r>
              <a:rPr sz="900" b="0">
                <a:solidFill>
                  <a:srgbClr val="94A3B8"/>
                </a:solidFill>
                <a:latin typeface="Calibri"/>
              </a:rPr>
              <a:t>February 2026</a:t>
            </a:r>
          </a:p>
        </p:txBody>
      </p:sp>
      <p:sp>
        <p:nvSpPr>
          <p:cNvPr id="23" name="TextBox 22"/>
          <p:cNvSpPr txBox="1"/>
          <p:nvPr/>
        </p:nvSpPr>
        <p:spPr>
          <a:xfrm>
            <a:off x="5029200" y="4572000"/>
            <a:ext cx="3657600" cy="182880"/>
          </a:xfrm>
          <a:prstGeom prst="rect">
            <a:avLst/>
          </a:prstGeom>
          <a:noFill/>
        </p:spPr>
        <p:txBody>
          <a:bodyPr wrap="square">
            <a:spAutoFit/>
          </a:bodyPr>
          <a:lstStyle/>
          <a:p>
            <a:pPr algn="r"/>
            <a:r>
              <a:rPr sz="900" b="0">
                <a:solidFill>
                  <a:srgbClr val="94A3B8"/>
                </a:solidFill>
                <a:latin typeface="Calibri"/>
              </a:rPr>
              <a:t>Prepared by Lucid Development, LLC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7315200" cy="320040"/>
          </a:xfrm>
          <a:prstGeom prst="rect">
            <a:avLst/>
          </a:prstGeom>
          <a:noFill/>
        </p:spPr>
        <p:txBody>
          <a:bodyPr wrap="square">
            <a:spAutoFit/>
          </a:bodyPr>
          <a:lstStyle/>
          <a:p>
            <a:pPr algn="l"/>
            <a:r>
              <a:rPr sz="1400" b="1">
                <a:solidFill>
                  <a:srgbClr val="1E293B"/>
                </a:solidFill>
                <a:latin typeface="Georgia"/>
              </a:rPr>
              <a:t>CONFIDENTIAL — NOT FOR DISTRIBUTION</a:t>
            </a:r>
          </a:p>
        </p:txBody>
      </p:sp>
      <p:sp>
        <p:nvSpPr>
          <p:cNvPr id="4" name="Rectangle 3"/>
          <p:cNvSpPr/>
          <p:nvPr/>
        </p:nvSpPr>
        <p:spPr>
          <a:xfrm>
            <a:off x="914400" y="914400"/>
            <a:ext cx="1828800" cy="182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097280"/>
            <a:ext cx="7315200" cy="3200400"/>
          </a:xfrm>
          <a:prstGeom prst="rect">
            <a:avLst/>
          </a:prstGeom>
          <a:noFill/>
        </p:spPr>
        <p:txBody>
          <a:bodyPr wrap="square">
            <a:spAutoFit/>
          </a:bodyPr>
          <a:lstStyle/>
          <a:p>
            <a:pPr algn="l"/>
            <a:r>
              <a:rPr sz="1000" b="0">
                <a:solidFill>
                  <a:srgbClr val="475569"/>
                </a:solidFill>
                <a:latin typeface="Calibri"/>
              </a:rPr>
              <a:t>This Confidential Offering Memorandum has been prepared by Lucid Development, LLC solely for the purpose of providing prospective investors with information regarding a potential investment in 823 N Orange Grove Blvd, , CA .
This Memorandum does not constitute an offer to sell or a solicitation of an offer to buy. Any such offer will be made only via definitive PPM and subscription documents.
All financial projections, return estimates, and timelines herein represent targeted outcomes only and are not guarantees. Actual results may differ materially. Past performance is not indicative of future results.
Recipients agree not to reproduce, distribute, or disclose without written consent.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Executive Summary</a:t>
            </a:r>
          </a:p>
        </p:txBody>
      </p:sp>
      <p:sp>
        <p:nvSpPr>
          <p:cNvPr id="5" name="TextBox 4"/>
          <p:cNvSpPr txBox="1"/>
          <p:nvPr/>
        </p:nvSpPr>
        <p:spPr>
          <a:xfrm>
            <a:off x="457200" y="777240"/>
            <a:ext cx="5029200" cy="3291840"/>
          </a:xfrm>
          <a:prstGeom prst="rect">
            <a:avLst/>
          </a:prstGeom>
          <a:noFill/>
        </p:spPr>
        <p:txBody>
          <a:bodyPr wrap="square">
            <a:spAutoFit/>
          </a:bodyPr>
          <a:lstStyle/>
          <a:p>
            <a:pPr algn="l"/>
            <a:r>
              <a:rPr sz="900" b="0">
                <a:solidFill>
                  <a:srgbClr val="475569"/>
                </a:solidFill>
                <a:latin typeface="Calibri"/>
              </a:rPr>
              <a:t>Lucid Development, LLC is seeking approximately $2.5M in LP equity to acquire, subdivide, and develop 823 N Orange Grove Blvd — a 13,824 SF parcel in , zoned R1 and eligible for ministerial approval under California SB 1123.
The plan is to acquire for $2.3M, demolish the existing structure, subdivide into 9 fee-simple parcels, and construct 9 modern 1,750 SF townhomes. Completed units are targeted for sale within approximately 24 months.
SB 1123 enables this without discretionary approvals, public hearings, or CEQA review. A build-to-rent fallback targets $36,099/month in gross rental income.</a:t>
            </a:r>
          </a:p>
        </p:txBody>
      </p:sp>
      <p:sp>
        <p:nvSpPr>
          <p:cNvPr id="6" name="Rectangle 5"/>
          <p:cNvSpPr/>
          <p:nvPr/>
        </p:nvSpPr>
        <p:spPr>
          <a:xfrm>
            <a:off x="5669280" y="777240"/>
            <a:ext cx="301752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777240"/>
            <a:ext cx="54864" cy="7772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06440" y="832104"/>
            <a:ext cx="2834640" cy="365760"/>
          </a:xfrm>
          <a:prstGeom prst="rect">
            <a:avLst/>
          </a:prstGeom>
          <a:noFill/>
        </p:spPr>
        <p:txBody>
          <a:bodyPr wrap="square">
            <a:spAutoFit/>
          </a:bodyPr>
          <a:lstStyle/>
          <a:p>
            <a:pPr algn="ctr"/>
            <a:r>
              <a:rPr sz="2000" b="1">
                <a:solidFill>
                  <a:srgbClr val="1E293B"/>
                </a:solidFill>
                <a:latin typeface="Calibri"/>
              </a:rPr>
              <a:t>$2.5M</a:t>
            </a:r>
          </a:p>
        </p:txBody>
      </p:sp>
      <p:sp>
        <p:nvSpPr>
          <p:cNvPr id="9" name="TextBox 8"/>
          <p:cNvSpPr txBox="1"/>
          <p:nvPr/>
        </p:nvSpPr>
        <p:spPr>
          <a:xfrm>
            <a:off x="5806440" y="1298448"/>
            <a:ext cx="2834640" cy="201168"/>
          </a:xfrm>
          <a:prstGeom prst="rect">
            <a:avLst/>
          </a:prstGeom>
          <a:noFill/>
        </p:spPr>
        <p:txBody>
          <a:bodyPr wrap="square">
            <a:spAutoFit/>
          </a:bodyPr>
          <a:lstStyle/>
          <a:p>
            <a:pPr algn="ctr"/>
            <a:r>
              <a:rPr sz="700" b="0">
                <a:solidFill>
                  <a:srgbClr val="64748B"/>
                </a:solidFill>
                <a:latin typeface="Calibri"/>
              </a:rPr>
              <a:t>Target Equity Raise</a:t>
            </a:r>
          </a:p>
        </p:txBody>
      </p:sp>
      <p:sp>
        <p:nvSpPr>
          <p:cNvPr id="10" name="Rectangle 9"/>
          <p:cNvSpPr/>
          <p:nvPr/>
        </p:nvSpPr>
        <p:spPr>
          <a:xfrm>
            <a:off x="5669280" y="1691640"/>
            <a:ext cx="301752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0" y="1691640"/>
            <a:ext cx="54864" cy="7772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06440" y="1746504"/>
            <a:ext cx="2834640" cy="365760"/>
          </a:xfrm>
          <a:prstGeom prst="rect">
            <a:avLst/>
          </a:prstGeom>
          <a:noFill/>
        </p:spPr>
        <p:txBody>
          <a:bodyPr wrap="square">
            <a:spAutoFit/>
          </a:bodyPr>
          <a:lstStyle/>
          <a:p>
            <a:pPr algn="ctr"/>
            <a:r>
              <a:rPr sz="2000" b="1">
                <a:solidFill>
                  <a:srgbClr val="1E293B"/>
                </a:solidFill>
                <a:latin typeface="Calibri"/>
              </a:rPr>
              <a:t>$10.1M</a:t>
            </a:r>
          </a:p>
        </p:txBody>
      </p:sp>
      <p:sp>
        <p:nvSpPr>
          <p:cNvPr id="13" name="TextBox 12"/>
          <p:cNvSpPr txBox="1"/>
          <p:nvPr/>
        </p:nvSpPr>
        <p:spPr>
          <a:xfrm>
            <a:off x="5806440" y="2212848"/>
            <a:ext cx="2834640" cy="201168"/>
          </a:xfrm>
          <a:prstGeom prst="rect">
            <a:avLst/>
          </a:prstGeom>
          <a:noFill/>
        </p:spPr>
        <p:txBody>
          <a:bodyPr wrap="square">
            <a:spAutoFit/>
          </a:bodyPr>
          <a:lstStyle/>
          <a:p>
            <a:pPr algn="ctr"/>
            <a:r>
              <a:rPr sz="700" b="0">
                <a:solidFill>
                  <a:srgbClr val="64748B"/>
                </a:solidFill>
                <a:latin typeface="Calibri"/>
              </a:rPr>
              <a:t>Total Capitalization</a:t>
            </a:r>
          </a:p>
        </p:txBody>
      </p:sp>
      <p:sp>
        <p:nvSpPr>
          <p:cNvPr id="14" name="Rectangle 13"/>
          <p:cNvSpPr/>
          <p:nvPr/>
        </p:nvSpPr>
        <p:spPr>
          <a:xfrm>
            <a:off x="5669280" y="2606040"/>
            <a:ext cx="301752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0" y="2606040"/>
            <a:ext cx="54864" cy="7772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06440" y="2660904"/>
            <a:ext cx="2834640" cy="365760"/>
          </a:xfrm>
          <a:prstGeom prst="rect">
            <a:avLst/>
          </a:prstGeom>
          <a:noFill/>
        </p:spPr>
        <p:txBody>
          <a:bodyPr wrap="square">
            <a:spAutoFit/>
          </a:bodyPr>
          <a:lstStyle/>
          <a:p>
            <a:pPr algn="ctr"/>
            <a:r>
              <a:rPr sz="2000" b="1">
                <a:solidFill>
                  <a:srgbClr val="1E293B"/>
                </a:solidFill>
                <a:latin typeface="Calibri"/>
              </a:rPr>
              <a:t>3.10x  /  76.0%</a:t>
            </a:r>
          </a:p>
        </p:txBody>
      </p:sp>
      <p:sp>
        <p:nvSpPr>
          <p:cNvPr id="17" name="TextBox 16"/>
          <p:cNvSpPr txBox="1"/>
          <p:nvPr/>
        </p:nvSpPr>
        <p:spPr>
          <a:xfrm>
            <a:off x="5806440" y="3127248"/>
            <a:ext cx="2834640" cy="201168"/>
          </a:xfrm>
          <a:prstGeom prst="rect">
            <a:avLst/>
          </a:prstGeom>
          <a:noFill/>
        </p:spPr>
        <p:txBody>
          <a:bodyPr wrap="square">
            <a:spAutoFit/>
          </a:bodyPr>
          <a:lstStyle/>
          <a:p>
            <a:pPr algn="ctr"/>
            <a:r>
              <a:rPr sz="700" b="0">
                <a:solidFill>
                  <a:srgbClr val="64748B"/>
                </a:solidFill>
                <a:latin typeface="Calibri"/>
              </a:rPr>
              <a:t>Target MOIC / IRR</a:t>
            </a:r>
          </a:p>
        </p:txBody>
      </p:sp>
      <p:sp>
        <p:nvSpPr>
          <p:cNvPr id="18" name="Rectangle 17"/>
          <p:cNvSpPr/>
          <p:nvPr/>
        </p:nvSpPr>
        <p:spPr>
          <a:xfrm>
            <a:off x="5669280" y="3520440"/>
            <a:ext cx="301752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0" y="3520440"/>
            <a:ext cx="54864" cy="7772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06440" y="3575304"/>
            <a:ext cx="2834640" cy="365760"/>
          </a:xfrm>
          <a:prstGeom prst="rect">
            <a:avLst/>
          </a:prstGeom>
          <a:noFill/>
        </p:spPr>
        <p:txBody>
          <a:bodyPr wrap="square">
            <a:spAutoFit/>
          </a:bodyPr>
          <a:lstStyle/>
          <a:p>
            <a:pPr algn="ctr"/>
            <a:r>
              <a:rPr sz="2000" b="1">
                <a:solidFill>
                  <a:srgbClr val="1E293B"/>
                </a:solidFill>
                <a:latin typeface="Calibri"/>
              </a:rPr>
              <a:t>9 Units  |  ~24 mo.</a:t>
            </a:r>
          </a:p>
        </p:txBody>
      </p:sp>
      <p:sp>
        <p:nvSpPr>
          <p:cNvPr id="21" name="TextBox 20"/>
          <p:cNvSpPr txBox="1"/>
          <p:nvPr/>
        </p:nvSpPr>
        <p:spPr>
          <a:xfrm>
            <a:off x="5806440" y="4041648"/>
            <a:ext cx="2834640" cy="201168"/>
          </a:xfrm>
          <a:prstGeom prst="rect">
            <a:avLst/>
          </a:prstGeom>
          <a:noFill/>
        </p:spPr>
        <p:txBody>
          <a:bodyPr wrap="square">
            <a:spAutoFit/>
          </a:bodyPr>
          <a:lstStyle/>
          <a:p>
            <a:pPr algn="ctr"/>
            <a:r>
              <a:rPr sz="700" b="0">
                <a:solidFill>
                  <a:srgbClr val="64748B"/>
                </a:solidFill>
                <a:latin typeface="Calibri"/>
              </a:rPr>
              <a:t>Units / Target Hold</a:t>
            </a:r>
          </a:p>
        </p:txBody>
      </p:sp>
      <p:sp>
        <p:nvSpPr>
          <p:cNvPr id="22" name="TextBox 21"/>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Investment Highlights</a:t>
            </a:r>
          </a:p>
        </p:txBody>
      </p:sp>
      <p:sp>
        <p:nvSpPr>
          <p:cNvPr id="5" name="Rectangle 4"/>
          <p:cNvSpPr/>
          <p:nvPr/>
        </p:nvSpPr>
        <p:spPr>
          <a:xfrm>
            <a:off x="457200" y="7772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8869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1</a:t>
            </a:r>
          </a:p>
        </p:txBody>
      </p:sp>
      <p:sp>
        <p:nvSpPr>
          <p:cNvPr id="7" name="TextBox 6"/>
          <p:cNvSpPr txBox="1"/>
          <p:nvPr/>
        </p:nvSpPr>
        <p:spPr>
          <a:xfrm>
            <a:off x="1005840" y="886968"/>
            <a:ext cx="3337560" cy="228600"/>
          </a:xfrm>
          <a:prstGeom prst="rect">
            <a:avLst/>
          </a:prstGeom>
          <a:noFill/>
        </p:spPr>
        <p:txBody>
          <a:bodyPr wrap="square">
            <a:spAutoFit/>
          </a:bodyPr>
          <a:lstStyle/>
          <a:p>
            <a:pPr algn="l"/>
            <a:r>
              <a:rPr sz="1000" b="1">
                <a:solidFill>
                  <a:srgbClr val="1E293B"/>
                </a:solidFill>
                <a:latin typeface="Calibri"/>
              </a:rPr>
              <a:t>By-Right Under SB 1123</a:t>
            </a:r>
          </a:p>
        </p:txBody>
      </p:sp>
      <p:sp>
        <p:nvSpPr>
          <p:cNvPr id="8" name="TextBox 7"/>
          <p:cNvSpPr txBox="1"/>
          <p:nvPr/>
        </p:nvSpPr>
        <p:spPr>
          <a:xfrm>
            <a:off x="1005840" y="1143000"/>
            <a:ext cx="3337560" cy="731520"/>
          </a:xfrm>
          <a:prstGeom prst="rect">
            <a:avLst/>
          </a:prstGeom>
          <a:noFill/>
        </p:spPr>
        <p:txBody>
          <a:bodyPr wrap="square">
            <a:spAutoFit/>
          </a:bodyPr>
          <a:lstStyle/>
          <a:p>
            <a:pPr algn="l"/>
            <a:r>
              <a:rPr sz="800" b="0">
                <a:solidFill>
                  <a:srgbClr val="475569"/>
                </a:solidFill>
                <a:latin typeface="Calibri"/>
              </a:rPr>
              <a:t>Ministerial approval — no public hearings, no CEQA. 60-day statutory timeline.</a:t>
            </a:r>
          </a:p>
        </p:txBody>
      </p:sp>
      <p:sp>
        <p:nvSpPr>
          <p:cNvPr id="9" name="Rectangle 8"/>
          <p:cNvSpPr/>
          <p:nvPr/>
        </p:nvSpPr>
        <p:spPr>
          <a:xfrm>
            <a:off x="4754880" y="7772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37760" y="8869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2</a:t>
            </a:r>
          </a:p>
        </p:txBody>
      </p:sp>
      <p:sp>
        <p:nvSpPr>
          <p:cNvPr id="11" name="TextBox 10"/>
          <p:cNvSpPr txBox="1"/>
          <p:nvPr/>
        </p:nvSpPr>
        <p:spPr>
          <a:xfrm>
            <a:off x="5303520" y="886968"/>
            <a:ext cx="3337560" cy="228600"/>
          </a:xfrm>
          <a:prstGeom prst="rect">
            <a:avLst/>
          </a:prstGeom>
          <a:noFill/>
        </p:spPr>
        <p:txBody>
          <a:bodyPr wrap="square">
            <a:spAutoFit/>
          </a:bodyPr>
          <a:lstStyle/>
          <a:p>
            <a:pPr algn="l"/>
            <a:r>
              <a:rPr sz="1000" b="1">
                <a:solidFill>
                  <a:srgbClr val="1E293B"/>
                </a:solidFill>
                <a:latin typeface="Calibri"/>
              </a:rPr>
              <a:t>Severe Housing Undersupply</a:t>
            </a:r>
          </a:p>
        </p:txBody>
      </p:sp>
      <p:sp>
        <p:nvSpPr>
          <p:cNvPr id="12" name="TextBox 11"/>
          <p:cNvSpPr txBox="1"/>
          <p:nvPr/>
        </p:nvSpPr>
        <p:spPr>
          <a:xfrm>
            <a:off x="5303520" y="1143000"/>
            <a:ext cx="3337560" cy="731520"/>
          </a:xfrm>
          <a:prstGeom prst="rect">
            <a:avLst/>
          </a:prstGeom>
          <a:noFill/>
        </p:spPr>
        <p:txBody>
          <a:bodyPr wrap="square">
            <a:spAutoFit/>
          </a:bodyPr>
          <a:lstStyle/>
          <a:p>
            <a:pPr algn="l"/>
            <a:r>
              <a:rPr sz="800" b="0">
                <a:solidFill>
                  <a:srgbClr val="475569"/>
                </a:solidFill>
                <a:latin typeface="Calibri"/>
              </a:rPr>
              <a:t>New townhome inventory in  is near zero. SB 1123 unlocks infill supply.</a:t>
            </a:r>
          </a:p>
        </p:txBody>
      </p:sp>
      <p:sp>
        <p:nvSpPr>
          <p:cNvPr id="13" name="Rectangle 12"/>
          <p:cNvSpPr/>
          <p:nvPr/>
        </p:nvSpPr>
        <p:spPr>
          <a:xfrm>
            <a:off x="457200" y="21488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22585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3</a:t>
            </a:r>
          </a:p>
        </p:txBody>
      </p:sp>
      <p:sp>
        <p:nvSpPr>
          <p:cNvPr id="15" name="TextBox 14"/>
          <p:cNvSpPr txBox="1"/>
          <p:nvPr/>
        </p:nvSpPr>
        <p:spPr>
          <a:xfrm>
            <a:off x="1005840" y="2258568"/>
            <a:ext cx="3337560" cy="228600"/>
          </a:xfrm>
          <a:prstGeom prst="rect">
            <a:avLst/>
          </a:prstGeom>
          <a:noFill/>
        </p:spPr>
        <p:txBody>
          <a:bodyPr wrap="square">
            <a:spAutoFit/>
          </a:bodyPr>
          <a:lstStyle/>
          <a:p>
            <a:pPr algn="l"/>
            <a:r>
              <a:rPr sz="1000" b="1">
                <a:solidFill>
                  <a:srgbClr val="1E293B"/>
                </a:solidFill>
                <a:latin typeface="Calibri"/>
              </a:rPr>
              <a:t>1.8x Cost-to-Value Spread</a:t>
            </a:r>
          </a:p>
        </p:txBody>
      </p:sp>
      <p:sp>
        <p:nvSpPr>
          <p:cNvPr id="16" name="TextBox 15"/>
          <p:cNvSpPr txBox="1"/>
          <p:nvPr/>
        </p:nvSpPr>
        <p:spPr>
          <a:xfrm>
            <a:off x="1005840" y="2514600"/>
            <a:ext cx="3337560" cy="731520"/>
          </a:xfrm>
          <a:prstGeom prst="rect">
            <a:avLst/>
          </a:prstGeom>
          <a:noFill/>
        </p:spPr>
        <p:txBody>
          <a:bodyPr wrap="square">
            <a:spAutoFit/>
          </a:bodyPr>
          <a:lstStyle/>
          <a:p>
            <a:pPr algn="l"/>
            <a:r>
              <a:rPr sz="800" b="0">
                <a:solidFill>
                  <a:srgbClr val="475569"/>
                </a:solidFill>
                <a:latin typeface="Calibri"/>
              </a:rPr>
              <a:t>All-in ~$642/SF vs. $1,176/SF exit. Break-even at $676/SF.</a:t>
            </a:r>
          </a:p>
        </p:txBody>
      </p:sp>
      <p:sp>
        <p:nvSpPr>
          <p:cNvPr id="17" name="Rectangle 16"/>
          <p:cNvSpPr/>
          <p:nvPr/>
        </p:nvSpPr>
        <p:spPr>
          <a:xfrm>
            <a:off x="4754880" y="21488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937760" y="22585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4</a:t>
            </a:r>
          </a:p>
        </p:txBody>
      </p:sp>
      <p:sp>
        <p:nvSpPr>
          <p:cNvPr id="19" name="TextBox 18"/>
          <p:cNvSpPr txBox="1"/>
          <p:nvPr/>
        </p:nvSpPr>
        <p:spPr>
          <a:xfrm>
            <a:off x="5303520" y="2258568"/>
            <a:ext cx="3337560" cy="228600"/>
          </a:xfrm>
          <a:prstGeom prst="rect">
            <a:avLst/>
          </a:prstGeom>
          <a:noFill/>
        </p:spPr>
        <p:txBody>
          <a:bodyPr wrap="square">
            <a:spAutoFit/>
          </a:bodyPr>
          <a:lstStyle/>
          <a:p>
            <a:pPr algn="l"/>
            <a:r>
              <a:rPr sz="1000" b="1">
                <a:solidFill>
                  <a:srgbClr val="1E293B"/>
                </a:solidFill>
                <a:latin typeface="Calibri"/>
              </a:rPr>
              <a:t>Built-in Downside Protection</a:t>
            </a:r>
          </a:p>
        </p:txBody>
      </p:sp>
      <p:sp>
        <p:nvSpPr>
          <p:cNvPr id="20" name="TextBox 19"/>
          <p:cNvSpPr txBox="1"/>
          <p:nvPr/>
        </p:nvSpPr>
        <p:spPr>
          <a:xfrm>
            <a:off x="5303520" y="2514600"/>
            <a:ext cx="3337560" cy="731520"/>
          </a:xfrm>
          <a:prstGeom prst="rect">
            <a:avLst/>
          </a:prstGeom>
          <a:noFill/>
        </p:spPr>
        <p:txBody>
          <a:bodyPr wrap="square">
            <a:spAutoFit/>
          </a:bodyPr>
          <a:lstStyle/>
          <a:p>
            <a:pPr algn="l"/>
            <a:r>
              <a:rPr sz="800" b="0">
                <a:solidFill>
                  <a:srgbClr val="475569"/>
                </a:solidFill>
                <a:latin typeface="Calibri"/>
              </a:rPr>
              <a:t>BTR fallback targets $36,099/mo gross rent, $288,070 annual NOI.</a:t>
            </a:r>
          </a:p>
        </p:txBody>
      </p:sp>
      <p:sp>
        <p:nvSpPr>
          <p:cNvPr id="21" name="Rectangle 20"/>
          <p:cNvSpPr/>
          <p:nvPr/>
        </p:nvSpPr>
        <p:spPr>
          <a:xfrm>
            <a:off x="457200" y="35204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80" y="36301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5</a:t>
            </a:r>
          </a:p>
        </p:txBody>
      </p:sp>
      <p:sp>
        <p:nvSpPr>
          <p:cNvPr id="23" name="TextBox 22"/>
          <p:cNvSpPr txBox="1"/>
          <p:nvPr/>
        </p:nvSpPr>
        <p:spPr>
          <a:xfrm>
            <a:off x="1005840" y="3630168"/>
            <a:ext cx="3337560" cy="228600"/>
          </a:xfrm>
          <a:prstGeom prst="rect">
            <a:avLst/>
          </a:prstGeom>
          <a:noFill/>
        </p:spPr>
        <p:txBody>
          <a:bodyPr wrap="square">
            <a:spAutoFit/>
          </a:bodyPr>
          <a:lstStyle/>
          <a:p>
            <a:pPr algn="l"/>
            <a:r>
              <a:rPr sz="1000" b="1">
                <a:solidFill>
                  <a:srgbClr val="1E293B"/>
                </a:solidFill>
                <a:latin typeface="Calibri"/>
              </a:rPr>
              <a:t>Institutional-Caliber Sponsors</a:t>
            </a:r>
          </a:p>
        </p:txBody>
      </p:sp>
      <p:sp>
        <p:nvSpPr>
          <p:cNvPr id="24" name="TextBox 23"/>
          <p:cNvSpPr txBox="1"/>
          <p:nvPr/>
        </p:nvSpPr>
        <p:spPr>
          <a:xfrm>
            <a:off x="1005840" y="3886200"/>
            <a:ext cx="3337560" cy="731520"/>
          </a:xfrm>
          <a:prstGeom prst="rect">
            <a:avLst/>
          </a:prstGeom>
          <a:noFill/>
        </p:spPr>
        <p:txBody>
          <a:bodyPr wrap="square">
            <a:spAutoFit/>
          </a:bodyPr>
          <a:lstStyle/>
          <a:p>
            <a:pPr algn="l"/>
            <a:r>
              <a:rPr sz="800" b="0">
                <a:solidFill>
                  <a:srgbClr val="475569"/>
                </a:solidFill>
                <a:latin typeface="Calibri"/>
              </a:rPr>
              <a:t>9 years at Moelis / UBS. $350M+ structured capital. Active ops across LA.</a:t>
            </a:r>
          </a:p>
        </p:txBody>
      </p:sp>
      <p:sp>
        <p:nvSpPr>
          <p:cNvPr id="25" name="Rectangle 24"/>
          <p:cNvSpPr/>
          <p:nvPr/>
        </p:nvSpPr>
        <p:spPr>
          <a:xfrm>
            <a:off x="4754880" y="35204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937760" y="36301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6</a:t>
            </a:r>
          </a:p>
        </p:txBody>
      </p:sp>
      <p:sp>
        <p:nvSpPr>
          <p:cNvPr id="27" name="TextBox 26"/>
          <p:cNvSpPr txBox="1"/>
          <p:nvPr/>
        </p:nvSpPr>
        <p:spPr>
          <a:xfrm>
            <a:off x="5303520" y="3630168"/>
            <a:ext cx="3337560" cy="228600"/>
          </a:xfrm>
          <a:prstGeom prst="rect">
            <a:avLst/>
          </a:prstGeom>
          <a:noFill/>
        </p:spPr>
        <p:txBody>
          <a:bodyPr wrap="square">
            <a:spAutoFit/>
          </a:bodyPr>
          <a:lstStyle/>
          <a:p>
            <a:pPr algn="l"/>
            <a:r>
              <a:rPr sz="1000" b="1">
                <a:solidFill>
                  <a:srgbClr val="1E293B"/>
                </a:solidFill>
                <a:latin typeface="Calibri"/>
              </a:rPr>
              <a:t>Aligned Incentives</a:t>
            </a:r>
          </a:p>
        </p:txBody>
      </p:sp>
      <p:sp>
        <p:nvSpPr>
          <p:cNvPr id="28" name="TextBox 27"/>
          <p:cNvSpPr txBox="1"/>
          <p:nvPr/>
        </p:nvSpPr>
        <p:spPr>
          <a:xfrm>
            <a:off x="5303520" y="3886200"/>
            <a:ext cx="3337560" cy="731520"/>
          </a:xfrm>
          <a:prstGeom prst="rect">
            <a:avLst/>
          </a:prstGeom>
          <a:noFill/>
        </p:spPr>
        <p:txBody>
          <a:bodyPr wrap="square">
            <a:spAutoFit/>
          </a:bodyPr>
          <a:lstStyle/>
          <a:p>
            <a:pPr algn="l"/>
            <a:r>
              <a:rPr sz="800" b="0">
                <a:solidFill>
                  <a:srgbClr val="475569"/>
                </a:solidFill>
                <a:latin typeface="Calibri"/>
              </a:rPr>
              <a:t>GP promote subordinated to 8% LP pref. Fees (3.6% of cap) below market.</a:t>
            </a:r>
          </a:p>
        </p:txBody>
      </p:sp>
      <p:sp>
        <p:nvSpPr>
          <p:cNvPr id="29" name="TextBox 28"/>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Why Lucid Development</a:t>
            </a:r>
          </a:p>
        </p:txBody>
      </p:sp>
      <p:sp>
        <p:nvSpPr>
          <p:cNvPr id="5" name="TextBox 4"/>
          <p:cNvSpPr txBox="1"/>
          <p:nvPr/>
        </p:nvSpPr>
        <p:spPr>
          <a:xfrm>
            <a:off x="457200" y="1097280"/>
            <a:ext cx="5029200" cy="2926080"/>
          </a:xfrm>
          <a:prstGeom prst="rect">
            <a:avLst/>
          </a:prstGeom>
          <a:noFill/>
        </p:spPr>
        <p:txBody>
          <a:bodyPr wrap="square">
            <a:spAutoFit/>
          </a:bodyPr>
          <a:lstStyle/>
          <a:p>
            <a:pPr algn="l"/>
            <a:r>
              <a:rPr sz="1000" b="0">
                <a:solidFill>
                  <a:srgbClr val="475569"/>
                </a:solidFill>
                <a:latin typeface="Calibri"/>
              </a:rPr>
              <a:t>Matt Lucido and Joe Salerno have spent five years building Yardsworth — a California FinTech platform at the intersection of housing policy, capital markets, and residential development.
Through Yardsworth, the principals structured $350M+ in equity and credit term sheets, evaluated hundreds of infill sites, and built proprietary tools for small-lot subdivision economics.
They know these deals — zoning, permitting, construction, exit math — because they've studied and prepared for them for five years.</a:t>
            </a:r>
          </a:p>
        </p:txBody>
      </p:sp>
      <p:sp>
        <p:nvSpPr>
          <p:cNvPr id="6" name="Rectangle 5"/>
          <p:cNvSpPr/>
          <p:nvPr/>
        </p:nvSpPr>
        <p:spPr>
          <a:xfrm>
            <a:off x="5760720" y="777240"/>
            <a:ext cx="292608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60720" y="777240"/>
            <a:ext cx="54864" cy="7772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832104"/>
            <a:ext cx="2743200" cy="365760"/>
          </a:xfrm>
          <a:prstGeom prst="rect">
            <a:avLst/>
          </a:prstGeom>
          <a:noFill/>
        </p:spPr>
        <p:txBody>
          <a:bodyPr wrap="square">
            <a:spAutoFit/>
          </a:bodyPr>
          <a:lstStyle/>
          <a:p>
            <a:pPr algn="ctr"/>
            <a:r>
              <a:rPr sz="2200" b="1">
                <a:solidFill>
                  <a:srgbClr val="1E293B"/>
                </a:solidFill>
                <a:latin typeface="Calibri"/>
              </a:rPr>
              <a:t>5 Years</a:t>
            </a:r>
          </a:p>
        </p:txBody>
      </p:sp>
      <p:sp>
        <p:nvSpPr>
          <p:cNvPr id="9" name="TextBox 8"/>
          <p:cNvSpPr txBox="1"/>
          <p:nvPr/>
        </p:nvSpPr>
        <p:spPr>
          <a:xfrm>
            <a:off x="5897880" y="1298448"/>
            <a:ext cx="2743200" cy="201168"/>
          </a:xfrm>
          <a:prstGeom prst="rect">
            <a:avLst/>
          </a:prstGeom>
          <a:noFill/>
        </p:spPr>
        <p:txBody>
          <a:bodyPr wrap="square">
            <a:spAutoFit/>
          </a:bodyPr>
          <a:lstStyle/>
          <a:p>
            <a:pPr algn="ctr"/>
            <a:r>
              <a:rPr sz="700" b="0">
                <a:solidFill>
                  <a:srgbClr val="64748B"/>
                </a:solidFill>
                <a:latin typeface="Calibri"/>
              </a:rPr>
              <a:t>Co-Founder Partnership</a:t>
            </a:r>
          </a:p>
        </p:txBody>
      </p:sp>
      <p:sp>
        <p:nvSpPr>
          <p:cNvPr id="10" name="Rectangle 9"/>
          <p:cNvSpPr/>
          <p:nvPr/>
        </p:nvSpPr>
        <p:spPr>
          <a:xfrm>
            <a:off x="5760720" y="1691640"/>
            <a:ext cx="292608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60720" y="1691640"/>
            <a:ext cx="54864" cy="7772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97880" y="1746504"/>
            <a:ext cx="2743200" cy="365760"/>
          </a:xfrm>
          <a:prstGeom prst="rect">
            <a:avLst/>
          </a:prstGeom>
          <a:noFill/>
        </p:spPr>
        <p:txBody>
          <a:bodyPr wrap="square">
            <a:spAutoFit/>
          </a:bodyPr>
          <a:lstStyle/>
          <a:p>
            <a:pPr algn="ctr"/>
            <a:r>
              <a:rPr sz="2200" b="1">
                <a:solidFill>
                  <a:srgbClr val="1E293B"/>
                </a:solidFill>
                <a:latin typeface="Calibri"/>
              </a:rPr>
              <a:t>$350M+</a:t>
            </a:r>
          </a:p>
        </p:txBody>
      </p:sp>
      <p:sp>
        <p:nvSpPr>
          <p:cNvPr id="13" name="TextBox 12"/>
          <p:cNvSpPr txBox="1"/>
          <p:nvPr/>
        </p:nvSpPr>
        <p:spPr>
          <a:xfrm>
            <a:off x="5897880" y="2212848"/>
            <a:ext cx="2743200" cy="201168"/>
          </a:xfrm>
          <a:prstGeom prst="rect">
            <a:avLst/>
          </a:prstGeom>
          <a:noFill/>
        </p:spPr>
        <p:txBody>
          <a:bodyPr wrap="square">
            <a:spAutoFit/>
          </a:bodyPr>
          <a:lstStyle/>
          <a:p>
            <a:pPr algn="ctr"/>
            <a:r>
              <a:rPr sz="700" b="0">
                <a:solidFill>
                  <a:srgbClr val="64748B"/>
                </a:solidFill>
                <a:latin typeface="Calibri"/>
              </a:rPr>
              <a:t>Capital Structured</a:t>
            </a:r>
          </a:p>
        </p:txBody>
      </p:sp>
      <p:sp>
        <p:nvSpPr>
          <p:cNvPr id="14" name="Rectangle 13"/>
          <p:cNvSpPr/>
          <p:nvPr/>
        </p:nvSpPr>
        <p:spPr>
          <a:xfrm>
            <a:off x="5760720" y="2606040"/>
            <a:ext cx="292608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60720" y="2606040"/>
            <a:ext cx="54864" cy="7772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97880" y="2660904"/>
            <a:ext cx="2743200" cy="365760"/>
          </a:xfrm>
          <a:prstGeom prst="rect">
            <a:avLst/>
          </a:prstGeom>
          <a:noFill/>
        </p:spPr>
        <p:txBody>
          <a:bodyPr wrap="square">
            <a:spAutoFit/>
          </a:bodyPr>
          <a:lstStyle/>
          <a:p>
            <a:pPr algn="ctr"/>
            <a:r>
              <a:rPr sz="2200" b="1">
                <a:solidFill>
                  <a:srgbClr val="1E293B"/>
                </a:solidFill>
                <a:latin typeface="Calibri"/>
              </a:rPr>
              <a:t>100+</a:t>
            </a:r>
          </a:p>
        </p:txBody>
      </p:sp>
      <p:sp>
        <p:nvSpPr>
          <p:cNvPr id="17" name="TextBox 16"/>
          <p:cNvSpPr txBox="1"/>
          <p:nvPr/>
        </p:nvSpPr>
        <p:spPr>
          <a:xfrm>
            <a:off x="5897880" y="3127248"/>
            <a:ext cx="2743200" cy="201168"/>
          </a:xfrm>
          <a:prstGeom prst="rect">
            <a:avLst/>
          </a:prstGeom>
          <a:noFill/>
        </p:spPr>
        <p:txBody>
          <a:bodyPr wrap="square">
            <a:spAutoFit/>
          </a:bodyPr>
          <a:lstStyle/>
          <a:p>
            <a:pPr algn="ctr"/>
            <a:r>
              <a:rPr sz="700" b="0">
                <a:solidFill>
                  <a:srgbClr val="64748B"/>
                </a:solidFill>
                <a:latin typeface="Calibri"/>
              </a:rPr>
              <a:t>Infill Sites Evaluated</a:t>
            </a:r>
          </a:p>
        </p:txBody>
      </p:sp>
      <p:sp>
        <p:nvSpPr>
          <p:cNvPr id="18" name="Rectangle 17"/>
          <p:cNvSpPr/>
          <p:nvPr/>
        </p:nvSpPr>
        <p:spPr>
          <a:xfrm>
            <a:off x="5760720" y="3520440"/>
            <a:ext cx="292608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60720" y="3520440"/>
            <a:ext cx="54864" cy="7772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97880" y="3575304"/>
            <a:ext cx="2743200" cy="365760"/>
          </a:xfrm>
          <a:prstGeom prst="rect">
            <a:avLst/>
          </a:prstGeom>
          <a:noFill/>
        </p:spPr>
        <p:txBody>
          <a:bodyPr wrap="square">
            <a:spAutoFit/>
          </a:bodyPr>
          <a:lstStyle/>
          <a:p>
            <a:pPr algn="ctr"/>
            <a:r>
              <a:rPr sz="2200" b="1">
                <a:solidFill>
                  <a:srgbClr val="1E293B"/>
                </a:solidFill>
                <a:latin typeface="Calibri"/>
              </a:rPr>
              <a:t>13</a:t>
            </a:r>
          </a:p>
        </p:txBody>
      </p:sp>
      <p:sp>
        <p:nvSpPr>
          <p:cNvPr id="21" name="TextBox 20"/>
          <p:cNvSpPr txBox="1"/>
          <p:nvPr/>
        </p:nvSpPr>
        <p:spPr>
          <a:xfrm>
            <a:off x="5897880" y="4041648"/>
            <a:ext cx="2743200" cy="201168"/>
          </a:xfrm>
          <a:prstGeom prst="rect">
            <a:avLst/>
          </a:prstGeom>
          <a:noFill/>
        </p:spPr>
        <p:txBody>
          <a:bodyPr wrap="square">
            <a:spAutoFit/>
          </a:bodyPr>
          <a:lstStyle/>
          <a:p>
            <a:pPr algn="ctr"/>
            <a:r>
              <a:rPr sz="700" b="0">
                <a:solidFill>
                  <a:srgbClr val="64748B"/>
                </a:solidFill>
                <a:latin typeface="Calibri"/>
              </a:rPr>
              <a:t>Assets Under Management</a:t>
            </a:r>
          </a:p>
        </p:txBody>
      </p:sp>
      <p:sp>
        <p:nvSpPr>
          <p:cNvPr id="22" name="TextBox 21"/>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Sponsor Overview</a:t>
            </a:r>
          </a:p>
        </p:txBody>
      </p:sp>
      <p:sp>
        <p:nvSpPr>
          <p:cNvPr id="5" name="TextBox 4"/>
          <p:cNvSpPr txBox="1"/>
          <p:nvPr/>
        </p:nvSpPr>
        <p:spPr>
          <a:xfrm>
            <a:off x="1371600" y="777240"/>
            <a:ext cx="3017520" cy="228600"/>
          </a:xfrm>
          <a:prstGeom prst="rect">
            <a:avLst/>
          </a:prstGeom>
          <a:noFill/>
        </p:spPr>
        <p:txBody>
          <a:bodyPr wrap="square">
            <a:spAutoFit/>
          </a:bodyPr>
          <a:lstStyle/>
          <a:p>
            <a:pPr algn="l"/>
            <a:r>
              <a:rPr sz="1300" b="1">
                <a:solidFill>
                  <a:srgbClr val="1E293B"/>
                </a:solidFill>
                <a:latin typeface="Georgia"/>
              </a:rPr>
              <a:t>Matt Lucido</a:t>
            </a:r>
          </a:p>
        </p:txBody>
      </p:sp>
      <p:sp>
        <p:nvSpPr>
          <p:cNvPr id="6" name="TextBox 5"/>
          <p:cNvSpPr txBox="1"/>
          <p:nvPr/>
        </p:nvSpPr>
        <p:spPr>
          <a:xfrm>
            <a:off x="1371600" y="1024128"/>
            <a:ext cx="3017520" cy="182880"/>
          </a:xfrm>
          <a:prstGeom prst="rect">
            <a:avLst/>
          </a:prstGeom>
          <a:noFill/>
        </p:spPr>
        <p:txBody>
          <a:bodyPr wrap="square">
            <a:spAutoFit/>
          </a:bodyPr>
          <a:lstStyle/>
          <a:p>
            <a:pPr algn="l"/>
            <a:r>
              <a:rPr sz="800" b="1">
                <a:solidFill>
                  <a:srgbClr val="0D9488"/>
                </a:solidFill>
                <a:latin typeface="Calibri"/>
              </a:rPr>
              <a:t>Co-Founder &amp; CEO, Yardsworth</a:t>
            </a:r>
          </a:p>
        </p:txBody>
      </p:sp>
      <p:sp>
        <p:nvSpPr>
          <p:cNvPr id="7" name="TextBox 6"/>
          <p:cNvSpPr txBox="1"/>
          <p:nvPr/>
        </p:nvSpPr>
        <p:spPr>
          <a:xfrm>
            <a:off x="548640" y="1554480"/>
            <a:ext cx="3840480" cy="1828800"/>
          </a:xfrm>
          <a:prstGeom prst="rect">
            <a:avLst/>
          </a:prstGeom>
          <a:noFill/>
        </p:spPr>
        <p:txBody>
          <a:bodyPr wrap="square">
            <a:spAutoFit/>
          </a:bodyPr>
          <a:lstStyle/>
          <a:p>
            <a:pPr algn="l"/>
            <a:r>
              <a:rPr sz="800" b="0">
                <a:solidFill>
                  <a:srgbClr val="475569"/>
                </a:solidFill>
                <a:latin typeface="Calibri"/>
              </a:rPr>
              <a:t>CEO of Yardsworth, structuring $350M+ in equity and credit for residential housing. Previously Principal at Wavemaker Partners (global VC). Founded, scaled, and exited RentJolt. Developed 4 ADUs via structured land leases. Former collegiate athlete, UVA.</a:t>
            </a:r>
          </a:p>
        </p:txBody>
      </p:sp>
      <p:sp>
        <p:nvSpPr>
          <p:cNvPr id="8" name="TextBox 7"/>
          <p:cNvSpPr txBox="1"/>
          <p:nvPr/>
        </p:nvSpPr>
        <p:spPr>
          <a:xfrm>
            <a:off x="5669280" y="777240"/>
            <a:ext cx="3017520" cy="228600"/>
          </a:xfrm>
          <a:prstGeom prst="rect">
            <a:avLst/>
          </a:prstGeom>
          <a:noFill/>
        </p:spPr>
        <p:txBody>
          <a:bodyPr wrap="square">
            <a:spAutoFit/>
          </a:bodyPr>
          <a:lstStyle/>
          <a:p>
            <a:pPr algn="l"/>
            <a:r>
              <a:rPr sz="1300" b="1">
                <a:solidFill>
                  <a:srgbClr val="1E293B"/>
                </a:solidFill>
                <a:latin typeface="Georgia"/>
              </a:rPr>
              <a:t>Joe Salerno</a:t>
            </a:r>
          </a:p>
        </p:txBody>
      </p:sp>
      <p:sp>
        <p:nvSpPr>
          <p:cNvPr id="9" name="TextBox 8"/>
          <p:cNvSpPr txBox="1"/>
          <p:nvPr/>
        </p:nvSpPr>
        <p:spPr>
          <a:xfrm>
            <a:off x="5669280" y="1024128"/>
            <a:ext cx="3017520" cy="182880"/>
          </a:xfrm>
          <a:prstGeom prst="rect">
            <a:avLst/>
          </a:prstGeom>
          <a:noFill/>
        </p:spPr>
        <p:txBody>
          <a:bodyPr wrap="square">
            <a:spAutoFit/>
          </a:bodyPr>
          <a:lstStyle/>
          <a:p>
            <a:pPr algn="l"/>
            <a:r>
              <a:rPr sz="800" b="1">
                <a:solidFill>
                  <a:srgbClr val="0D9488"/>
                </a:solidFill>
                <a:latin typeface="Calibri"/>
              </a:rPr>
              <a:t>Co-Founder, CFO &amp; CIO, Yardsworth</a:t>
            </a:r>
          </a:p>
        </p:txBody>
      </p:sp>
      <p:sp>
        <p:nvSpPr>
          <p:cNvPr id="10" name="TextBox 9"/>
          <p:cNvSpPr txBox="1"/>
          <p:nvPr/>
        </p:nvSpPr>
        <p:spPr>
          <a:xfrm>
            <a:off x="4846320" y="1554480"/>
            <a:ext cx="3840480" cy="1828800"/>
          </a:xfrm>
          <a:prstGeom prst="rect">
            <a:avLst/>
          </a:prstGeom>
          <a:noFill/>
        </p:spPr>
        <p:txBody>
          <a:bodyPr wrap="square">
            <a:spAutoFit/>
          </a:bodyPr>
          <a:lstStyle/>
          <a:p>
            <a:pPr algn="l"/>
            <a:r>
              <a:rPr sz="800" b="0">
                <a:solidFill>
                  <a:srgbClr val="475569"/>
                </a:solidFill>
                <a:latin typeface="Calibri"/>
              </a:rPr>
              <a:t>CFO/CIO of Yardsworth. Long-term LA owner-operator: infill, ADUs, adaptive reuse, duplex conversions, value-add multifamily. 9 years at Moelis &amp; Co. and UBS — 25+ transactions, many &gt;$1B. MBA honors, UCLA Anderson. MS &amp; BS, USC.</a:t>
            </a:r>
          </a:p>
        </p:txBody>
      </p:sp>
      <p:sp>
        <p:nvSpPr>
          <p:cNvPr id="11" name="Rectangle 10"/>
          <p:cNvSpPr/>
          <p:nvPr/>
        </p:nvSpPr>
        <p:spPr>
          <a:xfrm>
            <a:off x="457200" y="3200400"/>
            <a:ext cx="8229600"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337560"/>
            <a:ext cx="8229600" cy="182880"/>
          </a:xfrm>
          <a:prstGeom prst="rect">
            <a:avLst/>
          </a:prstGeom>
          <a:noFill/>
        </p:spPr>
        <p:txBody>
          <a:bodyPr wrap="square">
            <a:spAutoFit/>
          </a:bodyPr>
          <a:lstStyle/>
          <a:p>
            <a:pPr algn="l"/>
            <a:r>
              <a:rPr sz="900" b="1">
                <a:solidFill>
                  <a:srgbClr val="1E293B"/>
                </a:solidFill>
                <a:latin typeface="Calibri"/>
              </a:rPr>
              <a:t>PLATFORM &amp; TRACK RECORD</a:t>
            </a:r>
          </a:p>
        </p:txBody>
      </p:sp>
      <p:sp>
        <p:nvSpPr>
          <p:cNvPr id="13" name="Rectangle 12"/>
          <p:cNvSpPr/>
          <p:nvPr/>
        </p:nvSpPr>
        <p:spPr>
          <a:xfrm>
            <a:off x="457200" y="3712464"/>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657600"/>
            <a:ext cx="3840480" cy="274320"/>
          </a:xfrm>
          <a:prstGeom prst="rect">
            <a:avLst/>
          </a:prstGeom>
          <a:noFill/>
        </p:spPr>
        <p:txBody>
          <a:bodyPr wrap="square">
            <a:spAutoFit/>
          </a:bodyPr>
          <a:lstStyle/>
          <a:p>
            <a:pPr algn="l"/>
            <a:r>
              <a:rPr sz="800" b="0">
                <a:solidFill>
                  <a:srgbClr val="475569"/>
                </a:solidFill>
                <a:latin typeface="Calibri"/>
              </a:rPr>
              <a:t>9 rental properties under active management</a:t>
            </a:r>
          </a:p>
        </p:txBody>
      </p:sp>
      <p:sp>
        <p:nvSpPr>
          <p:cNvPr id="15" name="Rectangle 14"/>
          <p:cNvSpPr/>
          <p:nvPr/>
        </p:nvSpPr>
        <p:spPr>
          <a:xfrm>
            <a:off x="4754880" y="3712464"/>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3657600"/>
            <a:ext cx="3840480" cy="274320"/>
          </a:xfrm>
          <a:prstGeom prst="rect">
            <a:avLst/>
          </a:prstGeom>
          <a:noFill/>
        </p:spPr>
        <p:txBody>
          <a:bodyPr wrap="square">
            <a:spAutoFit/>
          </a:bodyPr>
          <a:lstStyle/>
          <a:p>
            <a:pPr algn="l"/>
            <a:r>
              <a:rPr sz="800" b="0">
                <a:solidFill>
                  <a:srgbClr val="475569"/>
                </a:solidFill>
                <a:latin typeface="Calibri"/>
              </a:rPr>
              <a:t>4 ADU developments (structured land lease model)</a:t>
            </a:r>
          </a:p>
        </p:txBody>
      </p:sp>
      <p:sp>
        <p:nvSpPr>
          <p:cNvPr id="17" name="Rectangle 16"/>
          <p:cNvSpPr/>
          <p:nvPr/>
        </p:nvSpPr>
        <p:spPr>
          <a:xfrm>
            <a:off x="457200" y="4032503"/>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977639"/>
            <a:ext cx="3840480" cy="274320"/>
          </a:xfrm>
          <a:prstGeom prst="rect">
            <a:avLst/>
          </a:prstGeom>
          <a:noFill/>
        </p:spPr>
        <p:txBody>
          <a:bodyPr wrap="square">
            <a:spAutoFit/>
          </a:bodyPr>
          <a:lstStyle/>
          <a:p>
            <a:pPr algn="l"/>
            <a:r>
              <a:rPr sz="800" b="0">
                <a:solidFill>
                  <a:srgbClr val="475569"/>
                </a:solidFill>
                <a:latin typeface="Calibri"/>
              </a:rPr>
              <a:t>$350M+ equity and credit term sheets structured</a:t>
            </a:r>
          </a:p>
        </p:txBody>
      </p:sp>
      <p:sp>
        <p:nvSpPr>
          <p:cNvPr id="19" name="Rectangle 18"/>
          <p:cNvSpPr/>
          <p:nvPr/>
        </p:nvSpPr>
        <p:spPr>
          <a:xfrm>
            <a:off x="4754880" y="4032503"/>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0" y="3977639"/>
            <a:ext cx="3840480" cy="274320"/>
          </a:xfrm>
          <a:prstGeom prst="rect">
            <a:avLst/>
          </a:prstGeom>
          <a:noFill/>
        </p:spPr>
        <p:txBody>
          <a:bodyPr wrap="square">
            <a:spAutoFit/>
          </a:bodyPr>
          <a:lstStyle/>
          <a:p>
            <a:pPr algn="l"/>
            <a:r>
              <a:rPr sz="800" b="0">
                <a:solidFill>
                  <a:srgbClr val="475569"/>
                </a:solidFill>
                <a:latin typeface="Calibri"/>
              </a:rPr>
              <a:t>Active SB 1123 pipeline across Greater LA</a:t>
            </a:r>
          </a:p>
        </p:txBody>
      </p:sp>
      <p:sp>
        <p:nvSpPr>
          <p:cNvPr id="21" name="TextBox 20"/>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California SB 1123</a:t>
            </a:r>
            <a:r>
              <a:rPr sz="1000">
                <a:solidFill>
                  <a:srgbClr val="14B8A6"/>
                </a:solidFill>
                <a:latin typeface="Calibri"/>
              </a:rPr>
              <a:t>   By-Right Subdivision Framework</a:t>
            </a:r>
          </a:p>
        </p:txBody>
      </p:sp>
      <p:sp>
        <p:nvSpPr>
          <p:cNvPr id="5" name="TextBox 4"/>
          <p:cNvSpPr txBox="1"/>
          <p:nvPr/>
        </p:nvSpPr>
        <p:spPr>
          <a:xfrm>
            <a:off x="457200" y="777240"/>
            <a:ext cx="8229600" cy="548640"/>
          </a:xfrm>
          <a:prstGeom prst="rect">
            <a:avLst/>
          </a:prstGeom>
          <a:noFill/>
        </p:spPr>
        <p:txBody>
          <a:bodyPr wrap="square">
            <a:spAutoFit/>
          </a:bodyPr>
          <a:lstStyle/>
          <a:p>
            <a:pPr algn="l"/>
            <a:r>
              <a:rPr sz="900" b="0">
                <a:solidFill>
                  <a:srgbClr val="475569"/>
                </a:solidFill>
                <a:latin typeface="Calibri"/>
              </a:rPr>
              <a:t>SB 1123 (effective July 1, 2025) allows up to 10 fee-simple townhome lots on qualifying parcels — approved ministerially, no public hearing, no CEQA, 60-day approval timeline.</a:t>
            </a:r>
          </a:p>
        </p:txBody>
      </p:sp>
      <p:sp>
        <p:nvSpPr>
          <p:cNvPr id="6" name="Rectangle 5"/>
          <p:cNvSpPr/>
          <p:nvPr/>
        </p:nvSpPr>
        <p:spPr>
          <a:xfrm>
            <a:off x="457200" y="14630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40080" y="15727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1</a:t>
            </a:r>
          </a:p>
        </p:txBody>
      </p:sp>
      <p:sp>
        <p:nvSpPr>
          <p:cNvPr id="8" name="TextBox 7"/>
          <p:cNvSpPr txBox="1"/>
          <p:nvPr/>
        </p:nvSpPr>
        <p:spPr>
          <a:xfrm>
            <a:off x="1005840" y="1572768"/>
            <a:ext cx="3337560" cy="228600"/>
          </a:xfrm>
          <a:prstGeom prst="rect">
            <a:avLst/>
          </a:prstGeom>
          <a:noFill/>
        </p:spPr>
        <p:txBody>
          <a:bodyPr wrap="square">
            <a:spAutoFit/>
          </a:bodyPr>
          <a:lstStyle/>
          <a:p>
            <a:pPr algn="l"/>
            <a:r>
              <a:rPr sz="1000" b="1">
                <a:solidFill>
                  <a:srgbClr val="1E293B"/>
                </a:solidFill>
                <a:latin typeface="Calibri"/>
              </a:rPr>
              <a:t>Ministerial Approval</a:t>
            </a:r>
          </a:p>
        </p:txBody>
      </p:sp>
      <p:sp>
        <p:nvSpPr>
          <p:cNvPr id="9" name="TextBox 8"/>
          <p:cNvSpPr txBox="1"/>
          <p:nvPr/>
        </p:nvSpPr>
        <p:spPr>
          <a:xfrm>
            <a:off x="1005840" y="1828800"/>
            <a:ext cx="3337560" cy="731520"/>
          </a:xfrm>
          <a:prstGeom prst="rect">
            <a:avLst/>
          </a:prstGeom>
          <a:noFill/>
        </p:spPr>
        <p:txBody>
          <a:bodyPr wrap="square">
            <a:spAutoFit/>
          </a:bodyPr>
          <a:lstStyle/>
          <a:p>
            <a:pPr algn="l"/>
            <a:r>
              <a:rPr sz="800" b="0">
                <a:solidFill>
                  <a:srgbClr val="475569"/>
                </a:solidFill>
                <a:latin typeface="Calibri"/>
              </a:rPr>
              <a:t>No discretionary review, no CEQA. 60-day statutory.</a:t>
            </a:r>
          </a:p>
        </p:txBody>
      </p:sp>
      <p:sp>
        <p:nvSpPr>
          <p:cNvPr id="10" name="Rectangle 9"/>
          <p:cNvSpPr/>
          <p:nvPr/>
        </p:nvSpPr>
        <p:spPr>
          <a:xfrm>
            <a:off x="4754880" y="14630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937760" y="15727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2</a:t>
            </a:r>
          </a:p>
        </p:txBody>
      </p:sp>
      <p:sp>
        <p:nvSpPr>
          <p:cNvPr id="12" name="TextBox 11"/>
          <p:cNvSpPr txBox="1"/>
          <p:nvPr/>
        </p:nvSpPr>
        <p:spPr>
          <a:xfrm>
            <a:off x="5303520" y="1572768"/>
            <a:ext cx="3337560" cy="228600"/>
          </a:xfrm>
          <a:prstGeom prst="rect">
            <a:avLst/>
          </a:prstGeom>
          <a:noFill/>
        </p:spPr>
        <p:txBody>
          <a:bodyPr wrap="square">
            <a:spAutoFit/>
          </a:bodyPr>
          <a:lstStyle/>
          <a:p>
            <a:pPr algn="l"/>
            <a:r>
              <a:rPr sz="1000" b="1">
                <a:solidFill>
                  <a:srgbClr val="1E293B"/>
                </a:solidFill>
                <a:latin typeface="Calibri"/>
              </a:rPr>
              <a:t>Fee-Simple Ownership</a:t>
            </a:r>
          </a:p>
        </p:txBody>
      </p:sp>
      <p:sp>
        <p:nvSpPr>
          <p:cNvPr id="13" name="TextBox 12"/>
          <p:cNvSpPr txBox="1"/>
          <p:nvPr/>
        </p:nvSpPr>
        <p:spPr>
          <a:xfrm>
            <a:off x="5303520" y="1828800"/>
            <a:ext cx="3337560" cy="731520"/>
          </a:xfrm>
          <a:prstGeom prst="rect">
            <a:avLst/>
          </a:prstGeom>
          <a:noFill/>
        </p:spPr>
        <p:txBody>
          <a:bodyPr wrap="square">
            <a:spAutoFit/>
          </a:bodyPr>
          <a:lstStyle/>
          <a:p>
            <a:pPr algn="l"/>
            <a:r>
              <a:rPr sz="800" b="0">
                <a:solidFill>
                  <a:srgbClr val="475569"/>
                </a:solidFill>
                <a:latin typeface="Calibri"/>
              </a:rPr>
              <a:t>Buyers own their lot — not a condo. Higher $/SF, easier to finance.</a:t>
            </a:r>
          </a:p>
        </p:txBody>
      </p:sp>
      <p:sp>
        <p:nvSpPr>
          <p:cNvPr id="14" name="Rectangle 13"/>
          <p:cNvSpPr/>
          <p:nvPr/>
        </p:nvSpPr>
        <p:spPr>
          <a:xfrm>
            <a:off x="457200" y="28346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29443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3</a:t>
            </a:r>
          </a:p>
        </p:txBody>
      </p:sp>
      <p:sp>
        <p:nvSpPr>
          <p:cNvPr id="16" name="TextBox 15"/>
          <p:cNvSpPr txBox="1"/>
          <p:nvPr/>
        </p:nvSpPr>
        <p:spPr>
          <a:xfrm>
            <a:off x="1005840" y="2944368"/>
            <a:ext cx="3337560" cy="228600"/>
          </a:xfrm>
          <a:prstGeom prst="rect">
            <a:avLst/>
          </a:prstGeom>
          <a:noFill/>
        </p:spPr>
        <p:txBody>
          <a:bodyPr wrap="square">
            <a:spAutoFit/>
          </a:bodyPr>
          <a:lstStyle/>
          <a:p>
            <a:pPr algn="l"/>
            <a:r>
              <a:rPr sz="1000" b="1">
                <a:solidFill>
                  <a:srgbClr val="1E293B"/>
                </a:solidFill>
                <a:latin typeface="Calibri"/>
              </a:rPr>
              <a:t>No Affordable Req.</a:t>
            </a:r>
          </a:p>
        </p:txBody>
      </p:sp>
      <p:sp>
        <p:nvSpPr>
          <p:cNvPr id="17" name="TextBox 16"/>
          <p:cNvSpPr txBox="1"/>
          <p:nvPr/>
        </p:nvSpPr>
        <p:spPr>
          <a:xfrm>
            <a:off x="1005840" y="3200400"/>
            <a:ext cx="3337560" cy="731520"/>
          </a:xfrm>
          <a:prstGeom prst="rect">
            <a:avLst/>
          </a:prstGeom>
          <a:noFill/>
        </p:spPr>
        <p:txBody>
          <a:bodyPr wrap="square">
            <a:spAutoFit/>
          </a:bodyPr>
          <a:lstStyle/>
          <a:p>
            <a:pPr algn="l"/>
            <a:r>
              <a:rPr sz="800" b="0">
                <a:solidFill>
                  <a:srgbClr val="475569"/>
                </a:solidFill>
                <a:latin typeface="Calibri"/>
              </a:rPr>
              <a:t>No below-market units for ≤10-unit projects.</a:t>
            </a:r>
          </a:p>
        </p:txBody>
      </p:sp>
      <p:sp>
        <p:nvSpPr>
          <p:cNvPr id="18" name="Rectangle 17"/>
          <p:cNvSpPr/>
          <p:nvPr/>
        </p:nvSpPr>
        <p:spPr>
          <a:xfrm>
            <a:off x="4754880" y="28346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37760" y="29443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4</a:t>
            </a:r>
          </a:p>
        </p:txBody>
      </p:sp>
      <p:sp>
        <p:nvSpPr>
          <p:cNvPr id="20" name="TextBox 19"/>
          <p:cNvSpPr txBox="1"/>
          <p:nvPr/>
        </p:nvSpPr>
        <p:spPr>
          <a:xfrm>
            <a:off x="5303520" y="2944368"/>
            <a:ext cx="3337560" cy="228600"/>
          </a:xfrm>
          <a:prstGeom prst="rect">
            <a:avLst/>
          </a:prstGeom>
          <a:noFill/>
        </p:spPr>
        <p:txBody>
          <a:bodyPr wrap="square">
            <a:spAutoFit/>
          </a:bodyPr>
          <a:lstStyle/>
          <a:p>
            <a:pPr algn="l"/>
            <a:r>
              <a:rPr sz="1000" b="1">
                <a:solidFill>
                  <a:srgbClr val="1E293B"/>
                </a:solidFill>
                <a:latin typeface="Calibri"/>
              </a:rPr>
              <a:t>R1 Land Arbitrage</a:t>
            </a:r>
          </a:p>
        </p:txBody>
      </p:sp>
      <p:sp>
        <p:nvSpPr>
          <p:cNvPr id="21" name="TextBox 20"/>
          <p:cNvSpPr txBox="1"/>
          <p:nvPr/>
        </p:nvSpPr>
        <p:spPr>
          <a:xfrm>
            <a:off x="5303520" y="3200400"/>
            <a:ext cx="3337560" cy="731520"/>
          </a:xfrm>
          <a:prstGeom prst="rect">
            <a:avLst/>
          </a:prstGeom>
          <a:noFill/>
        </p:spPr>
        <p:txBody>
          <a:bodyPr wrap="square">
            <a:spAutoFit/>
          </a:bodyPr>
          <a:lstStyle/>
          <a:p>
            <a:pPr algn="l"/>
            <a:r>
              <a:rPr sz="800" b="0">
                <a:solidFill>
                  <a:srgbClr val="475569"/>
                </a:solidFill>
                <a:latin typeface="Calibri"/>
              </a:rPr>
              <a:t>Acquire at SFR pricing, develop at townhome density.</a:t>
            </a:r>
          </a:p>
        </p:txBody>
      </p:sp>
      <p:sp>
        <p:nvSpPr>
          <p:cNvPr id="22" name="Rectangle 21"/>
          <p:cNvSpPr/>
          <p:nvPr/>
        </p:nvSpPr>
        <p:spPr>
          <a:xfrm>
            <a:off x="457200" y="4434840"/>
            <a:ext cx="8229600" cy="3657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14B8A6"/>
                </a:solidFill>
                <a:latin typeface="Calibri"/>
              </a:rPr>
              <a:t>Acquire at R1 Pricing  →  Develop at Townhome Density  →  Sell at New-Con $/SF</a:t>
            </a:r>
          </a:p>
        </p:txBody>
      </p:sp>
      <p:sp>
        <p:nvSpPr>
          <p:cNvPr id="23" name="TextBox 22"/>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Property Overview</a:t>
            </a:r>
          </a:p>
        </p:txBody>
      </p:sp>
      <p:sp>
        <p:nvSpPr>
          <p:cNvPr id="5" name="Rectangle 4"/>
          <p:cNvSpPr/>
          <p:nvPr/>
        </p:nvSpPr>
        <p:spPr>
          <a:xfrm>
            <a:off x="365760" y="731520"/>
            <a:ext cx="5029200" cy="32918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22960"/>
            <a:ext cx="1645920" cy="274320"/>
          </a:xfrm>
          <a:prstGeom prst="rect">
            <a:avLst/>
          </a:prstGeom>
          <a:noFill/>
        </p:spPr>
        <p:txBody>
          <a:bodyPr wrap="square">
            <a:spAutoFit/>
          </a:bodyPr>
          <a:lstStyle/>
          <a:p>
            <a:pPr algn="l"/>
            <a:r>
              <a:rPr sz="900" b="1">
                <a:solidFill>
                  <a:srgbClr val="1E293B"/>
                </a:solidFill>
                <a:latin typeface="Calibri"/>
              </a:rPr>
              <a:t>Address</a:t>
            </a:r>
          </a:p>
        </p:txBody>
      </p:sp>
      <p:sp>
        <p:nvSpPr>
          <p:cNvPr id="7" name="TextBox 6"/>
          <p:cNvSpPr txBox="1"/>
          <p:nvPr/>
        </p:nvSpPr>
        <p:spPr>
          <a:xfrm>
            <a:off x="2286000" y="822960"/>
            <a:ext cx="2926080" cy="274320"/>
          </a:xfrm>
          <a:prstGeom prst="rect">
            <a:avLst/>
          </a:prstGeom>
          <a:noFill/>
        </p:spPr>
        <p:txBody>
          <a:bodyPr wrap="square">
            <a:spAutoFit/>
          </a:bodyPr>
          <a:lstStyle/>
          <a:p>
            <a:pPr algn="l"/>
            <a:r>
              <a:rPr sz="900" b="0">
                <a:solidFill>
                  <a:srgbClr val="475569"/>
                </a:solidFill>
                <a:latin typeface="Calibri"/>
              </a:rPr>
              <a:t>823 N Orange Grove Blvd, , CA </a:t>
            </a:r>
          </a:p>
        </p:txBody>
      </p:sp>
      <p:sp>
        <p:nvSpPr>
          <p:cNvPr id="8" name="Rectangle 7"/>
          <p:cNvSpPr/>
          <p:nvPr/>
        </p:nvSpPr>
        <p:spPr>
          <a:xfrm>
            <a:off x="548640" y="1133856"/>
            <a:ext cx="4663440" cy="45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188720"/>
            <a:ext cx="1645920" cy="274320"/>
          </a:xfrm>
          <a:prstGeom prst="rect">
            <a:avLst/>
          </a:prstGeom>
          <a:noFill/>
        </p:spPr>
        <p:txBody>
          <a:bodyPr wrap="square">
            <a:spAutoFit/>
          </a:bodyPr>
          <a:lstStyle/>
          <a:p>
            <a:pPr algn="l"/>
            <a:r>
              <a:rPr sz="900" b="1">
                <a:solidFill>
                  <a:srgbClr val="1E293B"/>
                </a:solidFill>
                <a:latin typeface="Calibri"/>
              </a:rPr>
              <a:t>Zoning</a:t>
            </a:r>
          </a:p>
        </p:txBody>
      </p:sp>
      <p:sp>
        <p:nvSpPr>
          <p:cNvPr id="10" name="TextBox 9"/>
          <p:cNvSpPr txBox="1"/>
          <p:nvPr/>
        </p:nvSpPr>
        <p:spPr>
          <a:xfrm>
            <a:off x="2286000" y="1188720"/>
            <a:ext cx="2926080" cy="274320"/>
          </a:xfrm>
          <a:prstGeom prst="rect">
            <a:avLst/>
          </a:prstGeom>
          <a:noFill/>
        </p:spPr>
        <p:txBody>
          <a:bodyPr wrap="square">
            <a:spAutoFit/>
          </a:bodyPr>
          <a:lstStyle/>
          <a:p>
            <a:pPr algn="l"/>
            <a:r>
              <a:rPr sz="900" b="0">
                <a:solidFill>
                  <a:srgbClr val="475569"/>
                </a:solidFill>
                <a:latin typeface="Calibri"/>
              </a:rPr>
              <a:t>R1 — SB 1123 Eligible</a:t>
            </a:r>
          </a:p>
        </p:txBody>
      </p:sp>
      <p:sp>
        <p:nvSpPr>
          <p:cNvPr id="11" name="Rectangle 10"/>
          <p:cNvSpPr/>
          <p:nvPr/>
        </p:nvSpPr>
        <p:spPr>
          <a:xfrm>
            <a:off x="548640" y="1499616"/>
            <a:ext cx="4663440" cy="45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554480"/>
            <a:ext cx="1645920" cy="274320"/>
          </a:xfrm>
          <a:prstGeom prst="rect">
            <a:avLst/>
          </a:prstGeom>
          <a:noFill/>
        </p:spPr>
        <p:txBody>
          <a:bodyPr wrap="square">
            <a:spAutoFit/>
          </a:bodyPr>
          <a:lstStyle/>
          <a:p>
            <a:pPr algn="l"/>
            <a:r>
              <a:rPr sz="900" b="1">
                <a:solidFill>
                  <a:srgbClr val="1E293B"/>
                </a:solidFill>
                <a:latin typeface="Calibri"/>
              </a:rPr>
              <a:t>Lot Size</a:t>
            </a:r>
          </a:p>
        </p:txBody>
      </p:sp>
      <p:sp>
        <p:nvSpPr>
          <p:cNvPr id="13" name="TextBox 12"/>
          <p:cNvSpPr txBox="1"/>
          <p:nvPr/>
        </p:nvSpPr>
        <p:spPr>
          <a:xfrm>
            <a:off x="2286000" y="1554480"/>
            <a:ext cx="2926080" cy="274320"/>
          </a:xfrm>
          <a:prstGeom prst="rect">
            <a:avLst/>
          </a:prstGeom>
          <a:noFill/>
        </p:spPr>
        <p:txBody>
          <a:bodyPr wrap="square">
            <a:spAutoFit/>
          </a:bodyPr>
          <a:lstStyle/>
          <a:p>
            <a:pPr algn="l"/>
            <a:r>
              <a:rPr sz="900" b="0">
                <a:solidFill>
                  <a:srgbClr val="475569"/>
                </a:solidFill>
                <a:latin typeface="Calibri"/>
              </a:rPr>
              <a:t>13,824 SF (0.32 acres)</a:t>
            </a:r>
          </a:p>
        </p:txBody>
      </p:sp>
      <p:sp>
        <p:nvSpPr>
          <p:cNvPr id="14" name="Rectangle 13"/>
          <p:cNvSpPr/>
          <p:nvPr/>
        </p:nvSpPr>
        <p:spPr>
          <a:xfrm>
            <a:off x="548640" y="1865376"/>
            <a:ext cx="4663440" cy="45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1920240"/>
            <a:ext cx="1645920" cy="274320"/>
          </a:xfrm>
          <a:prstGeom prst="rect">
            <a:avLst/>
          </a:prstGeom>
          <a:noFill/>
        </p:spPr>
        <p:txBody>
          <a:bodyPr wrap="square">
            <a:spAutoFit/>
          </a:bodyPr>
          <a:lstStyle/>
          <a:p>
            <a:pPr algn="l"/>
            <a:r>
              <a:rPr sz="900" b="1">
                <a:solidFill>
                  <a:srgbClr val="1E293B"/>
                </a:solidFill>
                <a:latin typeface="Calibri"/>
              </a:rPr>
              <a:t>Dimensions</a:t>
            </a:r>
          </a:p>
        </p:txBody>
      </p:sp>
      <p:sp>
        <p:nvSpPr>
          <p:cNvPr id="16" name="TextBox 15"/>
          <p:cNvSpPr txBox="1"/>
          <p:nvPr/>
        </p:nvSpPr>
        <p:spPr>
          <a:xfrm>
            <a:off x="2286000" y="1920240"/>
            <a:ext cx="2926080" cy="274320"/>
          </a:xfrm>
          <a:prstGeom prst="rect">
            <a:avLst/>
          </a:prstGeom>
          <a:noFill/>
        </p:spPr>
        <p:txBody>
          <a:bodyPr wrap="square">
            <a:spAutoFit/>
          </a:bodyPr>
          <a:lstStyle/>
          <a:p>
            <a:pPr algn="l"/>
            <a:r>
              <a:rPr sz="900" b="0">
                <a:solidFill>
                  <a:srgbClr val="475569"/>
                </a:solidFill>
                <a:latin typeface="Calibri"/>
              </a:rPr>
              <a:t>67' x 206'</a:t>
            </a:r>
          </a:p>
        </p:txBody>
      </p:sp>
      <p:sp>
        <p:nvSpPr>
          <p:cNvPr id="17" name="Rectangle 16"/>
          <p:cNvSpPr/>
          <p:nvPr/>
        </p:nvSpPr>
        <p:spPr>
          <a:xfrm>
            <a:off x="548640" y="2231136"/>
            <a:ext cx="4663440" cy="45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286000"/>
            <a:ext cx="1645920" cy="274320"/>
          </a:xfrm>
          <a:prstGeom prst="rect">
            <a:avLst/>
          </a:prstGeom>
          <a:noFill/>
        </p:spPr>
        <p:txBody>
          <a:bodyPr wrap="square">
            <a:spAutoFit/>
          </a:bodyPr>
          <a:lstStyle/>
          <a:p>
            <a:pPr algn="l"/>
            <a:r>
              <a:rPr sz="900" b="1">
                <a:solidFill>
                  <a:srgbClr val="1E293B"/>
                </a:solidFill>
                <a:latin typeface="Calibri"/>
              </a:rPr>
              <a:t>Asking Price</a:t>
            </a:r>
          </a:p>
        </p:txBody>
      </p:sp>
      <p:sp>
        <p:nvSpPr>
          <p:cNvPr id="19" name="TextBox 18"/>
          <p:cNvSpPr txBox="1"/>
          <p:nvPr/>
        </p:nvSpPr>
        <p:spPr>
          <a:xfrm>
            <a:off x="2286000" y="2286000"/>
            <a:ext cx="2926080" cy="274320"/>
          </a:xfrm>
          <a:prstGeom prst="rect">
            <a:avLst/>
          </a:prstGeom>
          <a:noFill/>
        </p:spPr>
        <p:txBody>
          <a:bodyPr wrap="square">
            <a:spAutoFit/>
          </a:bodyPr>
          <a:lstStyle/>
          <a:p>
            <a:pPr algn="l"/>
            <a:r>
              <a:rPr sz="900" b="0">
                <a:solidFill>
                  <a:srgbClr val="475569"/>
                </a:solidFill>
                <a:latin typeface="Calibri"/>
              </a:rPr>
              <a:t>$2.3M  ($166/SF lot)</a:t>
            </a:r>
          </a:p>
        </p:txBody>
      </p:sp>
      <p:sp>
        <p:nvSpPr>
          <p:cNvPr id="20" name="Rectangle 19"/>
          <p:cNvSpPr/>
          <p:nvPr/>
        </p:nvSpPr>
        <p:spPr>
          <a:xfrm>
            <a:off x="548640" y="2596896"/>
            <a:ext cx="4663440" cy="45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2651760"/>
            <a:ext cx="1645920" cy="274320"/>
          </a:xfrm>
          <a:prstGeom prst="rect">
            <a:avLst/>
          </a:prstGeom>
          <a:noFill/>
        </p:spPr>
        <p:txBody>
          <a:bodyPr wrap="square">
            <a:spAutoFit/>
          </a:bodyPr>
          <a:lstStyle/>
          <a:p>
            <a:pPr algn="l"/>
            <a:r>
              <a:rPr sz="900" b="1">
                <a:solidFill>
                  <a:srgbClr val="1E293B"/>
                </a:solidFill>
                <a:latin typeface="Calibri"/>
              </a:rPr>
              <a:t>Units</a:t>
            </a:r>
          </a:p>
        </p:txBody>
      </p:sp>
      <p:sp>
        <p:nvSpPr>
          <p:cNvPr id="22" name="TextBox 21"/>
          <p:cNvSpPr txBox="1"/>
          <p:nvPr/>
        </p:nvSpPr>
        <p:spPr>
          <a:xfrm>
            <a:off x="2286000" y="2651760"/>
            <a:ext cx="2926080" cy="274320"/>
          </a:xfrm>
          <a:prstGeom prst="rect">
            <a:avLst/>
          </a:prstGeom>
          <a:noFill/>
        </p:spPr>
        <p:txBody>
          <a:bodyPr wrap="square">
            <a:spAutoFit/>
          </a:bodyPr>
          <a:lstStyle/>
          <a:p>
            <a:pPr algn="l"/>
            <a:r>
              <a:rPr sz="900" b="0">
                <a:solidFill>
                  <a:srgbClr val="475569"/>
                </a:solidFill>
                <a:latin typeface="Calibri"/>
              </a:rPr>
              <a:t>9 fee-simple townhomes</a:t>
            </a:r>
          </a:p>
        </p:txBody>
      </p:sp>
      <p:sp>
        <p:nvSpPr>
          <p:cNvPr id="23" name="Rectangle 22"/>
          <p:cNvSpPr/>
          <p:nvPr/>
        </p:nvSpPr>
        <p:spPr>
          <a:xfrm>
            <a:off x="548640" y="2962656"/>
            <a:ext cx="4663440" cy="45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017520"/>
            <a:ext cx="1645920" cy="274320"/>
          </a:xfrm>
          <a:prstGeom prst="rect">
            <a:avLst/>
          </a:prstGeom>
          <a:noFill/>
        </p:spPr>
        <p:txBody>
          <a:bodyPr wrap="square">
            <a:spAutoFit/>
          </a:bodyPr>
          <a:lstStyle/>
          <a:p>
            <a:pPr algn="l"/>
            <a:r>
              <a:rPr sz="900" b="1">
                <a:solidFill>
                  <a:srgbClr val="1E293B"/>
                </a:solidFill>
                <a:latin typeface="Calibri"/>
              </a:rPr>
              <a:t>Unit SF</a:t>
            </a:r>
          </a:p>
        </p:txBody>
      </p:sp>
      <p:sp>
        <p:nvSpPr>
          <p:cNvPr id="25" name="TextBox 24"/>
          <p:cNvSpPr txBox="1"/>
          <p:nvPr/>
        </p:nvSpPr>
        <p:spPr>
          <a:xfrm>
            <a:off x="2286000" y="3017520"/>
            <a:ext cx="2926080" cy="274320"/>
          </a:xfrm>
          <a:prstGeom prst="rect">
            <a:avLst/>
          </a:prstGeom>
          <a:noFill/>
        </p:spPr>
        <p:txBody>
          <a:bodyPr wrap="square">
            <a:spAutoFit/>
          </a:bodyPr>
          <a:lstStyle/>
          <a:p>
            <a:pPr algn="l"/>
            <a:r>
              <a:rPr sz="900" b="0">
                <a:solidFill>
                  <a:srgbClr val="475569"/>
                </a:solidFill>
                <a:latin typeface="Calibri"/>
              </a:rPr>
              <a:t>1,750 SF habitable</a:t>
            </a:r>
          </a:p>
        </p:txBody>
      </p:sp>
      <p:sp>
        <p:nvSpPr>
          <p:cNvPr id="26" name="Rectangle 25"/>
          <p:cNvSpPr/>
          <p:nvPr/>
        </p:nvSpPr>
        <p:spPr>
          <a:xfrm>
            <a:off x="548640" y="3328416"/>
            <a:ext cx="4663440" cy="45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383280"/>
            <a:ext cx="1645920" cy="274320"/>
          </a:xfrm>
          <a:prstGeom prst="rect">
            <a:avLst/>
          </a:prstGeom>
          <a:noFill/>
        </p:spPr>
        <p:txBody>
          <a:bodyPr wrap="square">
            <a:spAutoFit/>
          </a:bodyPr>
          <a:lstStyle/>
          <a:p>
            <a:pPr algn="l"/>
            <a:r>
              <a:rPr sz="900" b="1">
                <a:solidFill>
                  <a:srgbClr val="1E293B"/>
                </a:solidFill>
                <a:latin typeface="Calibri"/>
              </a:rPr>
              <a:t>Strategy</a:t>
            </a:r>
          </a:p>
        </p:txBody>
      </p:sp>
      <p:sp>
        <p:nvSpPr>
          <p:cNvPr id="28" name="TextBox 27"/>
          <p:cNvSpPr txBox="1"/>
          <p:nvPr/>
        </p:nvSpPr>
        <p:spPr>
          <a:xfrm>
            <a:off x="2286000" y="3383280"/>
            <a:ext cx="2926080" cy="274320"/>
          </a:xfrm>
          <a:prstGeom prst="rect">
            <a:avLst/>
          </a:prstGeom>
          <a:noFill/>
        </p:spPr>
        <p:txBody>
          <a:bodyPr wrap="square">
            <a:spAutoFit/>
          </a:bodyPr>
          <a:lstStyle/>
          <a:p>
            <a:pPr algn="l"/>
            <a:r>
              <a:rPr sz="900" b="0">
                <a:solidFill>
                  <a:srgbClr val="475569"/>
                </a:solidFill>
                <a:latin typeface="Calibri"/>
              </a:rPr>
              <a:t>Demolish → Subdivide → Build 9 townhomes</a:t>
            </a:r>
          </a:p>
        </p:txBody>
      </p:sp>
      <p:sp>
        <p:nvSpPr>
          <p:cNvPr id="29" name="Rectangle 28"/>
          <p:cNvSpPr/>
          <p:nvPr/>
        </p:nvSpPr>
        <p:spPr>
          <a:xfrm>
            <a:off x="5669280" y="731520"/>
            <a:ext cx="3017520" cy="32918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0" y="731520"/>
            <a:ext cx="54864" cy="3291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0" y="868680"/>
            <a:ext cx="2560320" cy="228600"/>
          </a:xfrm>
          <a:prstGeom prst="rect">
            <a:avLst/>
          </a:prstGeom>
          <a:noFill/>
        </p:spPr>
        <p:txBody>
          <a:bodyPr wrap="square">
            <a:spAutoFit/>
          </a:bodyPr>
          <a:lstStyle/>
          <a:p>
            <a:pPr algn="l"/>
            <a:r>
              <a:rPr sz="1000" b="1">
                <a:solidFill>
                  <a:srgbClr val="1E293B"/>
                </a:solidFill>
                <a:latin typeface="Calibri"/>
              </a:rPr>
              <a:t>LOT MATH</a:t>
            </a:r>
          </a:p>
        </p:txBody>
      </p:sp>
      <p:sp>
        <p:nvSpPr>
          <p:cNvPr id="32" name="TextBox 31"/>
          <p:cNvSpPr txBox="1"/>
          <p:nvPr/>
        </p:nvSpPr>
        <p:spPr>
          <a:xfrm>
            <a:off x="5943600" y="1280160"/>
            <a:ext cx="2560320" cy="274320"/>
          </a:xfrm>
          <a:prstGeom prst="rect">
            <a:avLst/>
          </a:prstGeom>
          <a:noFill/>
        </p:spPr>
        <p:txBody>
          <a:bodyPr wrap="square">
            <a:spAutoFit/>
          </a:bodyPr>
          <a:lstStyle/>
          <a:p>
            <a:pPr algn="l"/>
            <a:r>
              <a:rPr sz="1400" b="1">
                <a:solidFill>
                  <a:srgbClr val="1E293B"/>
                </a:solidFill>
                <a:latin typeface="Calibri"/>
              </a:rPr>
              <a:t>13,824 SF</a:t>
            </a:r>
          </a:p>
        </p:txBody>
      </p:sp>
      <p:sp>
        <p:nvSpPr>
          <p:cNvPr id="33" name="TextBox 32"/>
          <p:cNvSpPr txBox="1"/>
          <p:nvPr/>
        </p:nvSpPr>
        <p:spPr>
          <a:xfrm>
            <a:off x="5943600" y="1508760"/>
            <a:ext cx="2560320" cy="182880"/>
          </a:xfrm>
          <a:prstGeom prst="rect">
            <a:avLst/>
          </a:prstGeom>
          <a:noFill/>
        </p:spPr>
        <p:txBody>
          <a:bodyPr wrap="square">
            <a:spAutoFit/>
          </a:bodyPr>
          <a:lstStyle/>
          <a:p>
            <a:pPr algn="l"/>
            <a:r>
              <a:rPr sz="700" b="0">
                <a:solidFill>
                  <a:srgbClr val="64748B"/>
                </a:solidFill>
                <a:latin typeface="Calibri"/>
              </a:rPr>
              <a:t>Total Lot Area</a:t>
            </a:r>
          </a:p>
        </p:txBody>
      </p:sp>
      <p:sp>
        <p:nvSpPr>
          <p:cNvPr id="34" name="TextBox 33"/>
          <p:cNvSpPr txBox="1"/>
          <p:nvPr/>
        </p:nvSpPr>
        <p:spPr>
          <a:xfrm>
            <a:off x="5943600" y="1737360"/>
            <a:ext cx="2560320" cy="274320"/>
          </a:xfrm>
          <a:prstGeom prst="rect">
            <a:avLst/>
          </a:prstGeom>
          <a:noFill/>
        </p:spPr>
        <p:txBody>
          <a:bodyPr wrap="square">
            <a:spAutoFit/>
          </a:bodyPr>
          <a:lstStyle/>
          <a:p>
            <a:pPr algn="l"/>
            <a:r>
              <a:rPr sz="1400" b="1">
                <a:solidFill>
                  <a:srgbClr val="1E293B"/>
                </a:solidFill>
                <a:latin typeface="Calibri"/>
              </a:rPr>
              <a:t>÷ 9 lots</a:t>
            </a:r>
          </a:p>
        </p:txBody>
      </p:sp>
      <p:sp>
        <p:nvSpPr>
          <p:cNvPr id="35" name="TextBox 34"/>
          <p:cNvSpPr txBox="1"/>
          <p:nvPr/>
        </p:nvSpPr>
        <p:spPr>
          <a:xfrm>
            <a:off x="5943600" y="1965960"/>
            <a:ext cx="2560320" cy="182880"/>
          </a:xfrm>
          <a:prstGeom prst="rect">
            <a:avLst/>
          </a:prstGeom>
          <a:noFill/>
        </p:spPr>
        <p:txBody>
          <a:bodyPr wrap="square">
            <a:spAutoFit/>
          </a:bodyPr>
          <a:lstStyle/>
          <a:p>
            <a:pPr algn="l"/>
            <a:r>
              <a:rPr sz="700" b="0">
                <a:solidFill>
                  <a:srgbClr val="64748B"/>
                </a:solidFill>
                <a:latin typeface="Calibri"/>
              </a:rPr>
              <a:t>SB 1123 Subdivision</a:t>
            </a:r>
          </a:p>
        </p:txBody>
      </p:sp>
      <p:sp>
        <p:nvSpPr>
          <p:cNvPr id="36" name="TextBox 35"/>
          <p:cNvSpPr txBox="1"/>
          <p:nvPr/>
        </p:nvSpPr>
        <p:spPr>
          <a:xfrm>
            <a:off x="5943600" y="2194560"/>
            <a:ext cx="2560320" cy="274320"/>
          </a:xfrm>
          <a:prstGeom prst="rect">
            <a:avLst/>
          </a:prstGeom>
          <a:noFill/>
        </p:spPr>
        <p:txBody>
          <a:bodyPr wrap="square">
            <a:spAutoFit/>
          </a:bodyPr>
          <a:lstStyle/>
          <a:p>
            <a:pPr algn="l"/>
            <a:r>
              <a:rPr sz="1400" b="1">
                <a:solidFill>
                  <a:srgbClr val="1E293B"/>
                </a:solidFill>
                <a:latin typeface="Calibri"/>
              </a:rPr>
              <a:t>= 1,536 SF/lot</a:t>
            </a:r>
          </a:p>
        </p:txBody>
      </p:sp>
      <p:sp>
        <p:nvSpPr>
          <p:cNvPr id="37" name="TextBox 36"/>
          <p:cNvSpPr txBox="1"/>
          <p:nvPr/>
        </p:nvSpPr>
        <p:spPr>
          <a:xfrm>
            <a:off x="5943600" y="2423160"/>
            <a:ext cx="2560320" cy="182880"/>
          </a:xfrm>
          <a:prstGeom prst="rect">
            <a:avLst/>
          </a:prstGeom>
          <a:noFill/>
        </p:spPr>
        <p:txBody>
          <a:bodyPr wrap="square">
            <a:spAutoFit/>
          </a:bodyPr>
          <a:lstStyle/>
          <a:p>
            <a:pPr algn="l"/>
            <a:r>
              <a:rPr sz="700" b="0">
                <a:solidFill>
                  <a:srgbClr val="64748B"/>
                </a:solidFill>
                <a:latin typeface="Calibri"/>
              </a:rPr>
              <a:t>Per-Lot Area</a:t>
            </a:r>
          </a:p>
        </p:txBody>
      </p:sp>
      <p:sp>
        <p:nvSpPr>
          <p:cNvPr id="38" name="TextBox 37"/>
          <p:cNvSpPr txBox="1"/>
          <p:nvPr/>
        </p:nvSpPr>
        <p:spPr>
          <a:xfrm>
            <a:off x="5943600" y="2651760"/>
            <a:ext cx="2560320" cy="274320"/>
          </a:xfrm>
          <a:prstGeom prst="rect">
            <a:avLst/>
          </a:prstGeom>
          <a:noFill/>
        </p:spPr>
        <p:txBody>
          <a:bodyPr wrap="square">
            <a:spAutoFit/>
          </a:bodyPr>
          <a:lstStyle/>
          <a:p>
            <a:pPr algn="l"/>
            <a:r>
              <a:rPr sz="1400" b="1">
                <a:solidFill>
                  <a:srgbClr val="1E293B"/>
                </a:solidFill>
                <a:latin typeface="Calibri"/>
              </a:rPr>
              <a:t>15,750 SF</a:t>
            </a:r>
          </a:p>
        </p:txBody>
      </p:sp>
      <p:sp>
        <p:nvSpPr>
          <p:cNvPr id="39" name="TextBox 38"/>
          <p:cNvSpPr txBox="1"/>
          <p:nvPr/>
        </p:nvSpPr>
        <p:spPr>
          <a:xfrm>
            <a:off x="5943600" y="2880360"/>
            <a:ext cx="2560320" cy="182880"/>
          </a:xfrm>
          <a:prstGeom prst="rect">
            <a:avLst/>
          </a:prstGeom>
          <a:noFill/>
        </p:spPr>
        <p:txBody>
          <a:bodyPr wrap="square">
            <a:spAutoFit/>
          </a:bodyPr>
          <a:lstStyle/>
          <a:p>
            <a:pPr algn="l"/>
            <a:r>
              <a:rPr sz="700" b="0">
                <a:solidFill>
                  <a:srgbClr val="64748B"/>
                </a:solidFill>
                <a:latin typeface="Calibri"/>
              </a:rPr>
              <a:t>Total New Habitable</a:t>
            </a:r>
          </a:p>
        </p:txBody>
      </p:sp>
      <p:sp>
        <p:nvSpPr>
          <p:cNvPr id="40" name="TextBox 39"/>
          <p:cNvSpPr txBox="1"/>
          <p:nvPr/>
        </p:nvSpPr>
        <p:spPr>
          <a:xfrm>
            <a:off x="5943600" y="3108960"/>
            <a:ext cx="2560320" cy="274320"/>
          </a:xfrm>
          <a:prstGeom prst="rect">
            <a:avLst/>
          </a:prstGeom>
          <a:noFill/>
        </p:spPr>
        <p:txBody>
          <a:bodyPr wrap="square">
            <a:spAutoFit/>
          </a:bodyPr>
          <a:lstStyle/>
          <a:p>
            <a:pPr algn="l"/>
            <a:r>
              <a:rPr sz="1400" b="1">
                <a:solidFill>
                  <a:srgbClr val="1E293B"/>
                </a:solidFill>
                <a:latin typeface="Calibri"/>
              </a:rPr>
              <a:t>1,750 SF</a:t>
            </a:r>
          </a:p>
        </p:txBody>
      </p:sp>
      <p:sp>
        <p:nvSpPr>
          <p:cNvPr id="41" name="TextBox 40"/>
          <p:cNvSpPr txBox="1"/>
          <p:nvPr/>
        </p:nvSpPr>
        <p:spPr>
          <a:xfrm>
            <a:off x="5943600" y="3337560"/>
            <a:ext cx="2560320" cy="182880"/>
          </a:xfrm>
          <a:prstGeom prst="rect">
            <a:avLst/>
          </a:prstGeom>
          <a:noFill/>
        </p:spPr>
        <p:txBody>
          <a:bodyPr wrap="square">
            <a:spAutoFit/>
          </a:bodyPr>
          <a:lstStyle/>
          <a:p>
            <a:pPr algn="l"/>
            <a:r>
              <a:rPr sz="700" b="0">
                <a:solidFill>
                  <a:srgbClr val="64748B"/>
                </a:solidFill>
                <a:latin typeface="Calibri"/>
              </a:rPr>
              <a:t>Per-Unit Habitable</a:t>
            </a:r>
          </a:p>
        </p:txBody>
      </p:sp>
      <p:sp>
        <p:nvSpPr>
          <p:cNvPr id="42" name="TextBox 41"/>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Construction Budget</a:t>
            </a:r>
          </a:p>
        </p:txBody>
      </p:sp>
      <p:graphicFrame>
        <p:nvGraphicFramePr>
          <p:cNvPr id="5" name="Table 4"/>
          <p:cNvGraphicFramePr>
            <a:graphicFrameLocks noGrp="1"/>
          </p:cNvGraphicFramePr>
          <p:nvPr/>
        </p:nvGraphicFramePr>
        <p:xfrm>
          <a:off x="457200" y="777240"/>
          <a:ext cx="4846320" cy="2048256"/>
        </p:xfrm>
        <a:graphic>
          <a:graphicData uri="http://schemas.openxmlformats.org/drawingml/2006/table">
            <a:tbl>
              <a:tblPr firstRow="1" bandRow="1">
                <a:tableStyleId>{5C22544A-7EE6-4342-B048-85BDC9FD1C3A}</a:tableStyleId>
              </a:tblPr>
              <a:tblGrid>
                <a:gridCol w="2194560"/>
                <a:gridCol w="1005840"/>
                <a:gridCol w="822960"/>
                <a:gridCol w="822960"/>
              </a:tblGrid>
              <a:tr h="292608">
                <a:tc>
                  <a:txBody>
                    <a:bodyPr/>
                    <a:lstStyle/>
                    <a:p>
                      <a:pPr algn="l">
                        <a:spcBef>
                          <a:spcPts val="0"/>
                        </a:spcBef>
                        <a:spcAft>
                          <a:spcPts val="0"/>
                        </a:spcAft>
                      </a:pPr>
                      <a:r>
                        <a:rPr sz="800" b="1">
                          <a:solidFill>
                            <a:srgbClr val="FFFFFF"/>
                          </a:solidFill>
                          <a:latin typeface="Calibri"/>
                        </a:rPr>
                        <a:t>Cost Category</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FFFFFF"/>
                          </a:solidFill>
                          <a:latin typeface="Calibri"/>
                        </a:rPr>
                        <a:t>Total</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FFFFFF"/>
                          </a:solidFill>
                          <a:latin typeface="Calibri"/>
                        </a:rPr>
                        <a:t>$/SF</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FFFFFF"/>
                          </a:solidFill>
                          <a:latin typeface="Calibri"/>
                        </a:rPr>
                        <a:t>% of Dev.</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Demolition</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$55,000</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$3</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0.7%</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Subdivision / Entitlement</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$100,000</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$6</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1.4%</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A&amp;E / Design</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$150,000</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$10</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2.0%</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Hard Costs (Vertical)</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$5.7M</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$360</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76.7%</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Soft Costs (25% of hard)</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$1.4M</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$90</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19.2%</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b="1">
                          <a:solidFill>
                            <a:srgbClr val="1E293B"/>
                          </a:solidFill>
                          <a:latin typeface="Calibri"/>
                        </a:rPr>
                        <a:t>Total Development</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1E293B"/>
                          </a:solidFill>
                          <a:latin typeface="Calibri"/>
                        </a:rPr>
                        <a:t>$7.4M</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1E293B"/>
                          </a:solidFill>
                          <a:latin typeface="Calibri"/>
                        </a:rPr>
                        <a:t>$469</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1E293B"/>
                          </a:solidFill>
                          <a:latin typeface="Calibri"/>
                        </a:rPr>
                        <a:t>100%</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bl>
          </a:graphicData>
        </a:graphic>
      </p:graphicFrame>
      <p:sp>
        <p:nvSpPr>
          <p:cNvPr id="6" name="Rectangle 5"/>
          <p:cNvSpPr/>
          <p:nvPr/>
        </p:nvSpPr>
        <p:spPr>
          <a:xfrm>
            <a:off x="5943600" y="777240"/>
            <a:ext cx="2743200" cy="7315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0" y="777240"/>
            <a:ext cx="54864"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80760" y="832104"/>
            <a:ext cx="2560320" cy="365760"/>
          </a:xfrm>
          <a:prstGeom prst="rect">
            <a:avLst/>
          </a:prstGeom>
          <a:noFill/>
        </p:spPr>
        <p:txBody>
          <a:bodyPr wrap="square">
            <a:spAutoFit/>
          </a:bodyPr>
          <a:lstStyle/>
          <a:p>
            <a:pPr algn="ctr"/>
            <a:r>
              <a:rPr sz="2000" b="1">
                <a:solidFill>
                  <a:srgbClr val="1E293B"/>
                </a:solidFill>
                <a:latin typeface="Calibri"/>
              </a:rPr>
              <a:t>$360/SF</a:t>
            </a:r>
          </a:p>
        </p:txBody>
      </p:sp>
      <p:sp>
        <p:nvSpPr>
          <p:cNvPr id="9" name="TextBox 8"/>
          <p:cNvSpPr txBox="1"/>
          <p:nvPr/>
        </p:nvSpPr>
        <p:spPr>
          <a:xfrm>
            <a:off x="6080760" y="1252728"/>
            <a:ext cx="2560320" cy="201168"/>
          </a:xfrm>
          <a:prstGeom prst="rect">
            <a:avLst/>
          </a:prstGeom>
          <a:noFill/>
        </p:spPr>
        <p:txBody>
          <a:bodyPr wrap="square">
            <a:spAutoFit/>
          </a:bodyPr>
          <a:lstStyle/>
          <a:p>
            <a:pPr algn="ctr"/>
            <a:r>
              <a:rPr sz="700" b="0">
                <a:solidFill>
                  <a:srgbClr val="64748B"/>
                </a:solidFill>
                <a:latin typeface="Calibri"/>
              </a:rPr>
              <a:t>Vertical Cost</a:t>
            </a:r>
          </a:p>
        </p:txBody>
      </p:sp>
      <p:sp>
        <p:nvSpPr>
          <p:cNvPr id="10" name="Rectangle 9"/>
          <p:cNvSpPr/>
          <p:nvPr/>
        </p:nvSpPr>
        <p:spPr>
          <a:xfrm>
            <a:off x="5943600" y="1645919"/>
            <a:ext cx="2743200" cy="7315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0" y="1645919"/>
            <a:ext cx="54864"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1700783"/>
            <a:ext cx="2560320" cy="365760"/>
          </a:xfrm>
          <a:prstGeom prst="rect">
            <a:avLst/>
          </a:prstGeom>
          <a:noFill/>
        </p:spPr>
        <p:txBody>
          <a:bodyPr wrap="square">
            <a:spAutoFit/>
          </a:bodyPr>
          <a:lstStyle/>
          <a:p>
            <a:pPr algn="ctr"/>
            <a:r>
              <a:rPr sz="2000" b="1">
                <a:solidFill>
                  <a:srgbClr val="1E293B"/>
                </a:solidFill>
                <a:latin typeface="Calibri"/>
              </a:rPr>
              <a:t>$469/SF</a:t>
            </a:r>
          </a:p>
        </p:txBody>
      </p:sp>
      <p:sp>
        <p:nvSpPr>
          <p:cNvPr id="13" name="TextBox 12"/>
          <p:cNvSpPr txBox="1"/>
          <p:nvPr/>
        </p:nvSpPr>
        <p:spPr>
          <a:xfrm>
            <a:off x="6080760" y="2121407"/>
            <a:ext cx="2560320" cy="201168"/>
          </a:xfrm>
          <a:prstGeom prst="rect">
            <a:avLst/>
          </a:prstGeom>
          <a:noFill/>
        </p:spPr>
        <p:txBody>
          <a:bodyPr wrap="square">
            <a:spAutoFit/>
          </a:bodyPr>
          <a:lstStyle/>
          <a:p>
            <a:pPr algn="ctr"/>
            <a:r>
              <a:rPr sz="700" b="0">
                <a:solidFill>
                  <a:srgbClr val="64748B"/>
                </a:solidFill>
                <a:latin typeface="Calibri"/>
              </a:rPr>
              <a:t>Total Dev Cost</a:t>
            </a:r>
          </a:p>
        </p:txBody>
      </p:sp>
      <p:sp>
        <p:nvSpPr>
          <p:cNvPr id="14" name="Rectangle 13"/>
          <p:cNvSpPr/>
          <p:nvPr/>
        </p:nvSpPr>
        <p:spPr>
          <a:xfrm>
            <a:off x="5943600" y="2514600"/>
            <a:ext cx="2743200" cy="7315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0" y="2514600"/>
            <a:ext cx="54864"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2569464"/>
            <a:ext cx="2560320" cy="365760"/>
          </a:xfrm>
          <a:prstGeom prst="rect">
            <a:avLst/>
          </a:prstGeom>
          <a:noFill/>
        </p:spPr>
        <p:txBody>
          <a:bodyPr wrap="square">
            <a:spAutoFit/>
          </a:bodyPr>
          <a:lstStyle/>
          <a:p>
            <a:pPr algn="ctr"/>
            <a:r>
              <a:rPr sz="2000" b="1">
                <a:solidFill>
                  <a:srgbClr val="0D9488"/>
                </a:solidFill>
                <a:latin typeface="Calibri"/>
              </a:rPr>
              <a:t>$1,176/SF</a:t>
            </a:r>
          </a:p>
        </p:txBody>
      </p:sp>
      <p:sp>
        <p:nvSpPr>
          <p:cNvPr id="17" name="TextBox 16"/>
          <p:cNvSpPr txBox="1"/>
          <p:nvPr/>
        </p:nvSpPr>
        <p:spPr>
          <a:xfrm>
            <a:off x="6080760" y="2990088"/>
            <a:ext cx="2560320" cy="201168"/>
          </a:xfrm>
          <a:prstGeom prst="rect">
            <a:avLst/>
          </a:prstGeom>
          <a:noFill/>
        </p:spPr>
        <p:txBody>
          <a:bodyPr wrap="square">
            <a:spAutoFit/>
          </a:bodyPr>
          <a:lstStyle/>
          <a:p>
            <a:pPr algn="ctr"/>
            <a:r>
              <a:rPr sz="700" b="0">
                <a:solidFill>
                  <a:srgbClr val="64748B"/>
                </a:solidFill>
                <a:latin typeface="Calibri"/>
              </a:rPr>
              <a:t>Exit $/SF (GUI)</a:t>
            </a:r>
          </a:p>
        </p:txBody>
      </p:sp>
      <p:sp>
        <p:nvSpPr>
          <p:cNvPr id="18" name="Rectangle 17"/>
          <p:cNvSpPr/>
          <p:nvPr/>
        </p:nvSpPr>
        <p:spPr>
          <a:xfrm>
            <a:off x="5943600" y="3383279"/>
            <a:ext cx="2743200" cy="7315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0" y="3383279"/>
            <a:ext cx="54864"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0760" y="3438143"/>
            <a:ext cx="2560320" cy="365760"/>
          </a:xfrm>
          <a:prstGeom prst="rect">
            <a:avLst/>
          </a:prstGeom>
          <a:noFill/>
        </p:spPr>
        <p:txBody>
          <a:bodyPr wrap="square">
            <a:spAutoFit/>
          </a:bodyPr>
          <a:lstStyle/>
          <a:p>
            <a:pPr algn="ctr"/>
            <a:r>
              <a:rPr sz="2000" b="1">
                <a:solidFill>
                  <a:srgbClr val="1E293B"/>
                </a:solidFill>
                <a:latin typeface="Calibri"/>
              </a:rPr>
              <a:t>$676/SF</a:t>
            </a:r>
          </a:p>
        </p:txBody>
      </p:sp>
      <p:sp>
        <p:nvSpPr>
          <p:cNvPr id="21" name="TextBox 20"/>
          <p:cNvSpPr txBox="1"/>
          <p:nvPr/>
        </p:nvSpPr>
        <p:spPr>
          <a:xfrm>
            <a:off x="6080760" y="3858767"/>
            <a:ext cx="2560320" cy="201168"/>
          </a:xfrm>
          <a:prstGeom prst="rect">
            <a:avLst/>
          </a:prstGeom>
          <a:noFill/>
        </p:spPr>
        <p:txBody>
          <a:bodyPr wrap="square">
            <a:spAutoFit/>
          </a:bodyPr>
          <a:lstStyle/>
          <a:p>
            <a:pPr algn="ctr"/>
            <a:r>
              <a:rPr sz="700" b="0">
                <a:solidFill>
                  <a:srgbClr val="64748B"/>
                </a:solidFill>
                <a:latin typeface="Calibri"/>
              </a:rPr>
              <a:t>Break-Even</a:t>
            </a:r>
          </a:p>
        </p:txBody>
      </p:sp>
      <p:sp>
        <p:nvSpPr>
          <p:cNvPr id="22" name="TextBox 21"/>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Comparable Sales Analysis</a:t>
            </a:r>
          </a:p>
        </p:txBody>
      </p:sp>
      <p:sp>
        <p:nvSpPr>
          <p:cNvPr id="5" name="Rectangle 4"/>
          <p:cNvSpPr/>
          <p:nvPr/>
        </p:nvSpPr>
        <p:spPr>
          <a:xfrm>
            <a:off x="457200" y="914400"/>
            <a:ext cx="8229600" cy="22860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14400"/>
            <a:ext cx="54864" cy="2286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88720"/>
            <a:ext cx="7680960" cy="365760"/>
          </a:xfrm>
          <a:prstGeom prst="rect">
            <a:avLst/>
          </a:prstGeom>
          <a:noFill/>
        </p:spPr>
        <p:txBody>
          <a:bodyPr wrap="square">
            <a:spAutoFit/>
          </a:bodyPr>
          <a:lstStyle/>
          <a:p>
            <a:pPr algn="ctr"/>
            <a:r>
              <a:rPr sz="1400" b="1">
                <a:solidFill>
                  <a:srgbClr val="1E293B"/>
                </a:solidFill>
                <a:latin typeface="Calibri"/>
              </a:rPr>
              <a:t>COMPARABLE SALES DATA</a:t>
            </a:r>
          </a:p>
        </p:txBody>
      </p:sp>
      <p:sp>
        <p:nvSpPr>
          <p:cNvPr id="8" name="TextBox 7"/>
          <p:cNvSpPr txBox="1"/>
          <p:nvPr/>
        </p:nvSpPr>
        <p:spPr>
          <a:xfrm>
            <a:off x="731520" y="1691640"/>
            <a:ext cx="7680960" cy="548640"/>
          </a:xfrm>
          <a:prstGeom prst="rect">
            <a:avLst/>
          </a:prstGeom>
          <a:noFill/>
        </p:spPr>
        <p:txBody>
          <a:bodyPr wrap="square">
            <a:spAutoFit/>
          </a:bodyPr>
          <a:lstStyle/>
          <a:p>
            <a:pPr algn="ctr"/>
            <a:r>
              <a:rPr sz="1000" b="0">
                <a:solidFill>
                  <a:srgbClr val="475569"/>
                </a:solidFill>
                <a:latin typeface="Calibri"/>
              </a:rPr>
              <a:t>Populated from GUI deal finder at export.
Exit $/SF: $1,176  |  Target: $1,176/SF  |  Break-Even: $676/SF</a:t>
            </a:r>
          </a:p>
        </p:txBody>
      </p:sp>
      <p:sp>
        <p:nvSpPr>
          <p:cNvPr id="9" name="Rectangle 8"/>
          <p:cNvSpPr/>
          <p:nvPr/>
        </p:nvSpPr>
        <p:spPr>
          <a:xfrm>
            <a:off x="274320" y="3840480"/>
            <a:ext cx="8595360" cy="4114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Target Exit: $1,176/SF   |   All-In: $642/SF   |   Break-Even: $676/SF</a:t>
            </a:r>
          </a:p>
        </p:txBody>
      </p:sp>
      <p:sp>
        <p:nvSpPr>
          <p:cNvPr id="10" name="TextBox 9"/>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Sources &amp; Uses of Capital</a:t>
            </a:r>
          </a:p>
        </p:txBody>
      </p:sp>
      <p:graphicFrame>
        <p:nvGraphicFramePr>
          <p:cNvPr id="5" name="Table 4"/>
          <p:cNvGraphicFramePr>
            <a:graphicFrameLocks noGrp="1"/>
          </p:cNvGraphicFramePr>
          <p:nvPr/>
        </p:nvGraphicFramePr>
        <p:xfrm>
          <a:off x="457200" y="777240"/>
          <a:ext cx="3657600" cy="1463040"/>
        </p:xfrm>
        <a:graphic>
          <a:graphicData uri="http://schemas.openxmlformats.org/drawingml/2006/table">
            <a:tbl>
              <a:tblPr firstRow="1" bandRow="1">
                <a:tableStyleId>{5C22544A-7EE6-4342-B048-85BDC9FD1C3A}</a:tableStyleId>
              </a:tblPr>
              <a:tblGrid>
                <a:gridCol w="1463040"/>
                <a:gridCol w="1371600"/>
                <a:gridCol w="822960"/>
              </a:tblGrid>
              <a:tr h="292608">
                <a:tc>
                  <a:txBody>
                    <a:bodyPr/>
                    <a:lstStyle/>
                    <a:p>
                      <a:pPr algn="l">
                        <a:spcBef>
                          <a:spcPts val="0"/>
                        </a:spcBef>
                        <a:spcAft>
                          <a:spcPts val="0"/>
                        </a:spcAft>
                      </a:pPr>
                      <a:r>
                        <a:rPr sz="800" b="1">
                          <a:solidFill>
                            <a:srgbClr val="FFFFFF"/>
                          </a:solidFill>
                          <a:latin typeface="Calibri"/>
                        </a:rPr>
                        <a:t>Source</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FFFFFF"/>
                          </a:solidFill>
                          <a:latin typeface="Calibri"/>
                        </a:rPr>
                        <a:t>Amount</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FFFFFF"/>
                          </a:solidFill>
                          <a:latin typeface="Calibri"/>
                        </a:rPr>
                        <a:t>% of Total</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LP Equity</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$2.5M</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24.7%</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GP Co-Invest</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$131,500</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1.3%</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Construction Loan</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$7.5M</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74.5%</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b="1">
                          <a:solidFill>
                            <a:srgbClr val="1E293B"/>
                          </a:solidFill>
                          <a:latin typeface="Calibri"/>
                        </a:rPr>
                        <a:t>Total Sources</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1E293B"/>
                          </a:solidFill>
                          <a:latin typeface="Calibri"/>
                        </a:rPr>
                        <a:t>$10.1M</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1E293B"/>
                          </a:solidFill>
                          <a:latin typeface="Calibri"/>
                        </a:rPr>
                        <a:t>100%</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bl>
          </a:graphicData>
        </a:graphic>
      </p:graphicFrame>
      <p:graphicFrame>
        <p:nvGraphicFramePr>
          <p:cNvPr id="6" name="Table 5"/>
          <p:cNvGraphicFramePr>
            <a:graphicFrameLocks noGrp="1"/>
          </p:cNvGraphicFramePr>
          <p:nvPr/>
        </p:nvGraphicFramePr>
        <p:xfrm>
          <a:off x="4754880" y="777240"/>
          <a:ext cx="3657600" cy="2340864"/>
        </p:xfrm>
        <a:graphic>
          <a:graphicData uri="http://schemas.openxmlformats.org/drawingml/2006/table">
            <a:tbl>
              <a:tblPr firstRow="1" bandRow="1">
                <a:tableStyleId>{5C22544A-7EE6-4342-B048-85BDC9FD1C3A}</a:tableStyleId>
              </a:tblPr>
              <a:tblGrid>
                <a:gridCol w="1463040"/>
                <a:gridCol w="1371600"/>
                <a:gridCol w="822960"/>
              </a:tblGrid>
              <a:tr h="292608">
                <a:tc>
                  <a:txBody>
                    <a:bodyPr/>
                    <a:lstStyle/>
                    <a:p>
                      <a:pPr algn="l">
                        <a:spcBef>
                          <a:spcPts val="0"/>
                        </a:spcBef>
                        <a:spcAft>
                          <a:spcPts val="0"/>
                        </a:spcAft>
                      </a:pPr>
                      <a:r>
                        <a:rPr sz="800" b="1">
                          <a:solidFill>
                            <a:srgbClr val="FFFFFF"/>
                          </a:solidFill>
                          <a:latin typeface="Calibri"/>
                        </a:rPr>
                        <a:t>Use</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FFFFFF"/>
                          </a:solidFill>
                          <a:latin typeface="Calibri"/>
                        </a:rPr>
                        <a:t>Amount</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FFFFFF"/>
                          </a:solidFill>
                          <a:latin typeface="Calibri"/>
                        </a:rPr>
                        <a:t>% of Total</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Land Acquisition</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$2.3M</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22.7%</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Development Costs</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$7.4M</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73.1%</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Sponsor Fees</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$363,220</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3.6%</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Carry (Tax+Ins)</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$90,600</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0.9%</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Interest (PIK)</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$783,746</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7.8%</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Origination Fee</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$149,613</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1.5%</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b="1">
                          <a:solidFill>
                            <a:srgbClr val="1E293B"/>
                          </a:solidFill>
                          <a:latin typeface="Calibri"/>
                        </a:rPr>
                        <a:t>Total Uses</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1E293B"/>
                          </a:solidFill>
                          <a:latin typeface="Calibri"/>
                        </a:rPr>
                        <a:t>$10.1M</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1E293B"/>
                          </a:solidFill>
                          <a:latin typeface="Calibri"/>
                        </a:rPr>
                        <a:t>100%</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bl>
          </a:graphicData>
        </a:graphic>
      </p:graphicFrame>
      <p:sp>
        <p:nvSpPr>
          <p:cNvPr id="7" name="Rectangle 6"/>
          <p:cNvSpPr/>
          <p:nvPr/>
        </p:nvSpPr>
        <p:spPr>
          <a:xfrm>
            <a:off x="457200" y="3840480"/>
            <a:ext cx="822960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3840480"/>
            <a:ext cx="54864"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886200"/>
            <a:ext cx="7772400" cy="411480"/>
          </a:xfrm>
          <a:prstGeom prst="rect">
            <a:avLst/>
          </a:prstGeom>
          <a:noFill/>
        </p:spPr>
        <p:txBody>
          <a:bodyPr wrap="square">
            <a:spAutoFit/>
          </a:bodyPr>
          <a:lstStyle/>
          <a:p>
            <a:pPr algn="ctr"/>
            <a:r>
              <a:rPr sz="1000" b="1">
                <a:solidFill>
                  <a:srgbClr val="FFFFFF"/>
                </a:solidFill>
                <a:latin typeface="Calibri"/>
              </a:rPr>
              <a:t>All-In: $642/SF  |  Equity: $2.6M (26.0%)  |  Debt: $7.5M at 10.0%  |  Interest: PIK (Capitalized)</a:t>
            </a:r>
          </a:p>
        </p:txBody>
      </p:sp>
      <p:sp>
        <p:nvSpPr>
          <p:cNvPr id="10" name="TextBox 9"/>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Targeted Pro Forma Returns</a:t>
            </a:r>
          </a:p>
        </p:txBody>
      </p:sp>
      <p:graphicFrame>
        <p:nvGraphicFramePr>
          <p:cNvPr id="5" name="Table 4"/>
          <p:cNvGraphicFramePr>
            <a:graphicFrameLocks noGrp="1"/>
          </p:cNvGraphicFramePr>
          <p:nvPr/>
        </p:nvGraphicFramePr>
        <p:xfrm>
          <a:off x="457200" y="777240"/>
          <a:ext cx="5029200" cy="3511296"/>
        </p:xfrm>
        <a:graphic>
          <a:graphicData uri="http://schemas.openxmlformats.org/drawingml/2006/table">
            <a:tbl>
              <a:tblPr firstRow="1" bandRow="1">
                <a:tableStyleId>{5C22544A-7EE6-4342-B048-85BDC9FD1C3A}</a:tableStyleId>
              </a:tblPr>
              <a:tblGrid>
                <a:gridCol w="3657600"/>
                <a:gridCol w="1371600"/>
              </a:tblGrid>
              <a:tr h="292608">
                <a:tc>
                  <a:txBody>
                    <a:bodyPr/>
                    <a:lstStyle/>
                    <a:p>
                      <a:pPr algn="l">
                        <a:spcBef>
                          <a:spcPts val="0"/>
                        </a:spcBef>
                        <a:spcAft>
                          <a:spcPts val="0"/>
                        </a:spcAft>
                      </a:pPr>
                      <a:r>
                        <a:rPr sz="800" b="1">
                          <a:solidFill>
                            <a:srgbClr val="FFFFFF"/>
                          </a:solidFill>
                          <a:latin typeface="Calibri"/>
                        </a:rPr>
                        <a:t>Line Item</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FFFFFF"/>
                          </a:solidFill>
                          <a:latin typeface="Calibri"/>
                        </a:rPr>
                        <a:t>Amount</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Gross Revenue (9 x 1,750 SF x $1,176/SF)</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$18.5M</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Less: Transaction Costs (5.0%)</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($926,100)</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Net Sale Proceeds</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$17.6M</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Less: Loan Repayment (principal + PIK interest)</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($8.3M)</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Net Distributable Cash</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$9.1M</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LP Return of Capital</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$2.5M</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LP Preferred Return (8.0% annual)</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$399,760</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Remaining After Pref</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$6.1M</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GP Promote (20.0%)</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$1.2M</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a:solidFill>
                            <a:srgbClr val="334155"/>
                          </a:solidFill>
                          <a:latin typeface="Calibri"/>
                        </a:rPr>
                        <a:t>LP Share of Remaining (80.0%)</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$4.9M</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292608">
                <a:tc>
                  <a:txBody>
                    <a:bodyPr/>
                    <a:lstStyle/>
                    <a:p>
                      <a:pPr algn="l">
                        <a:spcBef>
                          <a:spcPts val="0"/>
                        </a:spcBef>
                        <a:spcAft>
                          <a:spcPts val="0"/>
                        </a:spcAft>
                      </a:pPr>
                      <a:r>
                        <a:rPr sz="800" b="1">
                          <a:solidFill>
                            <a:srgbClr val="1E293B"/>
                          </a:solidFill>
                          <a:latin typeface="Calibri"/>
                        </a:rPr>
                        <a:t>Total LP Distribution</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1E293B"/>
                          </a:solidFill>
                          <a:latin typeface="Calibri"/>
                        </a:rPr>
                        <a:t>$7.7M</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bl>
          </a:graphicData>
        </a:graphic>
      </p:graphicFrame>
      <p:sp>
        <p:nvSpPr>
          <p:cNvPr id="6" name="Rectangle 5"/>
          <p:cNvSpPr/>
          <p:nvPr/>
        </p:nvSpPr>
        <p:spPr>
          <a:xfrm>
            <a:off x="5760720" y="777240"/>
            <a:ext cx="2926080" cy="8229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60720" y="777240"/>
            <a:ext cx="54864" cy="8229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832104"/>
            <a:ext cx="2743200" cy="365760"/>
          </a:xfrm>
          <a:prstGeom prst="rect">
            <a:avLst/>
          </a:prstGeom>
          <a:noFill/>
        </p:spPr>
        <p:txBody>
          <a:bodyPr wrap="square">
            <a:spAutoFit/>
          </a:bodyPr>
          <a:lstStyle/>
          <a:p>
            <a:pPr algn="ctr"/>
            <a:r>
              <a:rPr sz="2800" b="1">
                <a:solidFill>
                  <a:srgbClr val="1E293B"/>
                </a:solidFill>
                <a:latin typeface="Calibri"/>
              </a:rPr>
              <a:t>3.10x</a:t>
            </a:r>
          </a:p>
        </p:txBody>
      </p:sp>
      <p:sp>
        <p:nvSpPr>
          <p:cNvPr id="9" name="TextBox 8"/>
          <p:cNvSpPr txBox="1"/>
          <p:nvPr/>
        </p:nvSpPr>
        <p:spPr>
          <a:xfrm>
            <a:off x="5897880" y="1344168"/>
            <a:ext cx="2743200" cy="201168"/>
          </a:xfrm>
          <a:prstGeom prst="rect">
            <a:avLst/>
          </a:prstGeom>
          <a:noFill/>
        </p:spPr>
        <p:txBody>
          <a:bodyPr wrap="square">
            <a:spAutoFit/>
          </a:bodyPr>
          <a:lstStyle/>
          <a:p>
            <a:pPr algn="ctr"/>
            <a:r>
              <a:rPr sz="700" b="0">
                <a:solidFill>
                  <a:srgbClr val="64748B"/>
                </a:solidFill>
                <a:latin typeface="Calibri"/>
              </a:rPr>
              <a:t>Target LP MOIC</a:t>
            </a:r>
          </a:p>
        </p:txBody>
      </p:sp>
      <p:sp>
        <p:nvSpPr>
          <p:cNvPr id="10" name="Rectangle 9"/>
          <p:cNvSpPr/>
          <p:nvPr/>
        </p:nvSpPr>
        <p:spPr>
          <a:xfrm>
            <a:off x="5760720" y="1783080"/>
            <a:ext cx="2926080" cy="8229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60720" y="1783080"/>
            <a:ext cx="54864" cy="8229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97880" y="1837944"/>
            <a:ext cx="2743200" cy="365760"/>
          </a:xfrm>
          <a:prstGeom prst="rect">
            <a:avLst/>
          </a:prstGeom>
          <a:noFill/>
        </p:spPr>
        <p:txBody>
          <a:bodyPr wrap="square">
            <a:spAutoFit/>
          </a:bodyPr>
          <a:lstStyle/>
          <a:p>
            <a:pPr algn="ctr"/>
            <a:r>
              <a:rPr sz="2800" b="1">
                <a:solidFill>
                  <a:srgbClr val="1E293B"/>
                </a:solidFill>
                <a:latin typeface="Calibri"/>
              </a:rPr>
              <a:t>76.0%</a:t>
            </a:r>
          </a:p>
        </p:txBody>
      </p:sp>
      <p:sp>
        <p:nvSpPr>
          <p:cNvPr id="13" name="TextBox 12"/>
          <p:cNvSpPr txBox="1"/>
          <p:nvPr/>
        </p:nvSpPr>
        <p:spPr>
          <a:xfrm>
            <a:off x="5897880" y="2350008"/>
            <a:ext cx="2743200" cy="201168"/>
          </a:xfrm>
          <a:prstGeom prst="rect">
            <a:avLst/>
          </a:prstGeom>
          <a:noFill/>
        </p:spPr>
        <p:txBody>
          <a:bodyPr wrap="square">
            <a:spAutoFit/>
          </a:bodyPr>
          <a:lstStyle/>
          <a:p>
            <a:pPr algn="ctr"/>
            <a:r>
              <a:rPr sz="700" b="0">
                <a:solidFill>
                  <a:srgbClr val="64748B"/>
                </a:solidFill>
                <a:latin typeface="Calibri"/>
              </a:rPr>
              <a:t>Target LP IRR (XIRR)</a:t>
            </a:r>
          </a:p>
        </p:txBody>
      </p:sp>
      <p:sp>
        <p:nvSpPr>
          <p:cNvPr id="14" name="Rectangle 13"/>
          <p:cNvSpPr/>
          <p:nvPr/>
        </p:nvSpPr>
        <p:spPr>
          <a:xfrm>
            <a:off x="5760720" y="2788920"/>
            <a:ext cx="2926080" cy="8229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60720" y="2788920"/>
            <a:ext cx="54864" cy="8229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97880" y="2843784"/>
            <a:ext cx="2743200" cy="365760"/>
          </a:xfrm>
          <a:prstGeom prst="rect">
            <a:avLst/>
          </a:prstGeom>
          <a:noFill/>
        </p:spPr>
        <p:txBody>
          <a:bodyPr wrap="square">
            <a:spAutoFit/>
          </a:bodyPr>
          <a:lstStyle/>
          <a:p>
            <a:pPr algn="ctr"/>
            <a:r>
              <a:rPr sz="2800" b="1">
                <a:solidFill>
                  <a:srgbClr val="0D9488"/>
                </a:solidFill>
                <a:latin typeface="Calibri"/>
              </a:rPr>
              <a:t>~24 mo.</a:t>
            </a:r>
          </a:p>
        </p:txBody>
      </p:sp>
      <p:sp>
        <p:nvSpPr>
          <p:cNvPr id="17" name="TextBox 16"/>
          <p:cNvSpPr txBox="1"/>
          <p:nvPr/>
        </p:nvSpPr>
        <p:spPr>
          <a:xfrm>
            <a:off x="5897880" y="3355848"/>
            <a:ext cx="2743200" cy="201168"/>
          </a:xfrm>
          <a:prstGeom prst="rect">
            <a:avLst/>
          </a:prstGeom>
          <a:noFill/>
        </p:spPr>
        <p:txBody>
          <a:bodyPr wrap="square">
            <a:spAutoFit/>
          </a:bodyPr>
          <a:lstStyle/>
          <a:p>
            <a:pPr algn="ctr"/>
            <a:r>
              <a:rPr sz="700" b="0">
                <a:solidFill>
                  <a:srgbClr val="64748B"/>
                </a:solidFill>
                <a:latin typeface="Calibri"/>
              </a:rPr>
              <a:t>Target Hold</a:t>
            </a:r>
          </a:p>
        </p:txBody>
      </p:sp>
      <p:sp>
        <p:nvSpPr>
          <p:cNvPr id="18" name="Rectangle 17"/>
          <p:cNvSpPr/>
          <p:nvPr/>
        </p:nvSpPr>
        <p:spPr>
          <a:xfrm>
            <a:off x="5760720" y="3794760"/>
            <a:ext cx="2926080" cy="8229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60720" y="3794760"/>
            <a:ext cx="54864" cy="8229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97880" y="3849624"/>
            <a:ext cx="2743200" cy="365760"/>
          </a:xfrm>
          <a:prstGeom prst="rect">
            <a:avLst/>
          </a:prstGeom>
          <a:noFill/>
        </p:spPr>
        <p:txBody>
          <a:bodyPr wrap="square">
            <a:spAutoFit/>
          </a:bodyPr>
          <a:lstStyle/>
          <a:p>
            <a:pPr algn="ctr"/>
            <a:r>
              <a:rPr sz="2800" b="1">
                <a:solidFill>
                  <a:srgbClr val="0D9488"/>
                </a:solidFill>
                <a:latin typeface="Calibri"/>
              </a:rPr>
              <a:t>8.0% annual</a:t>
            </a:r>
          </a:p>
        </p:txBody>
      </p:sp>
      <p:sp>
        <p:nvSpPr>
          <p:cNvPr id="21" name="TextBox 20"/>
          <p:cNvSpPr txBox="1"/>
          <p:nvPr/>
        </p:nvSpPr>
        <p:spPr>
          <a:xfrm>
            <a:off x="5897880" y="4361688"/>
            <a:ext cx="2743200" cy="201168"/>
          </a:xfrm>
          <a:prstGeom prst="rect">
            <a:avLst/>
          </a:prstGeom>
          <a:noFill/>
        </p:spPr>
        <p:txBody>
          <a:bodyPr wrap="square">
            <a:spAutoFit/>
          </a:bodyPr>
          <a:lstStyle/>
          <a:p>
            <a:pPr algn="ctr"/>
            <a:r>
              <a:rPr sz="700" b="0">
                <a:solidFill>
                  <a:srgbClr val="64748B"/>
                </a:solidFill>
                <a:latin typeface="Calibri"/>
              </a:rPr>
              <a:t>LP Preferred Return</a:t>
            </a:r>
          </a:p>
        </p:txBody>
      </p:sp>
      <p:sp>
        <p:nvSpPr>
          <p:cNvPr id="22" name="TextBox 21"/>
          <p:cNvSpPr txBox="1"/>
          <p:nvPr/>
        </p:nvSpPr>
        <p:spPr>
          <a:xfrm>
            <a:off x="457200" y="4572000"/>
            <a:ext cx="4572000" cy="228600"/>
          </a:xfrm>
          <a:prstGeom prst="rect">
            <a:avLst/>
          </a:prstGeom>
          <a:noFill/>
        </p:spPr>
        <p:txBody>
          <a:bodyPr wrap="square">
            <a:spAutoFit/>
          </a:bodyPr>
          <a:lstStyle/>
          <a:p>
            <a:pPr algn="l"/>
            <a:r>
              <a:rPr sz="700" b="0">
                <a:solidFill>
                  <a:srgbClr val="94A3B8"/>
                </a:solidFill>
                <a:latin typeface="Calibri"/>
              </a:rPr>
              <a:t>Projected targets only. Actual results may differ.</a:t>
            </a:r>
          </a:p>
        </p:txBody>
      </p:sp>
      <p:sp>
        <p:nvSpPr>
          <p:cNvPr id="23" name="TextBox 22"/>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Sensitivity Analysis</a:t>
            </a:r>
          </a:p>
        </p:txBody>
      </p:sp>
      <p:sp>
        <p:nvSpPr>
          <p:cNvPr id="5" name="TextBox 4"/>
          <p:cNvSpPr txBox="1"/>
          <p:nvPr/>
        </p:nvSpPr>
        <p:spPr>
          <a:xfrm>
            <a:off x="457200" y="777240"/>
            <a:ext cx="8229600" cy="365760"/>
          </a:xfrm>
          <a:prstGeom prst="rect">
            <a:avLst/>
          </a:prstGeom>
          <a:noFill/>
        </p:spPr>
        <p:txBody>
          <a:bodyPr wrap="square">
            <a:spAutoFit/>
          </a:bodyPr>
          <a:lstStyle/>
          <a:p>
            <a:pPr algn="l"/>
            <a:r>
              <a:rPr sz="900" b="0">
                <a:solidFill>
                  <a:srgbClr val="475569"/>
                </a:solidFill>
                <a:latin typeface="Calibri"/>
              </a:rPr>
              <a:t>Two-way sensitivity tables from the financial model. Rows/columns vary exit $/SF, build cost $/SF, and hold period to show LP MOIC under different scenarios.</a:t>
            </a:r>
          </a:p>
        </p:txBody>
      </p:sp>
      <p:sp>
        <p:nvSpPr>
          <p:cNvPr id="6" name="TextBox 5"/>
          <p:cNvSpPr txBox="1"/>
          <p:nvPr/>
        </p:nvSpPr>
        <p:spPr>
          <a:xfrm>
            <a:off x="457200" y="1280160"/>
            <a:ext cx="8229600" cy="228600"/>
          </a:xfrm>
          <a:prstGeom prst="rect">
            <a:avLst/>
          </a:prstGeom>
          <a:noFill/>
        </p:spPr>
        <p:txBody>
          <a:bodyPr wrap="square">
            <a:spAutoFit/>
          </a:bodyPr>
          <a:lstStyle/>
          <a:p>
            <a:pPr algn="l"/>
            <a:r>
              <a:rPr sz="900" b="1">
                <a:solidFill>
                  <a:srgbClr val="1E293B"/>
                </a:solidFill>
                <a:latin typeface="Calibri"/>
              </a:rPr>
              <a:t>TABLE 1: LP MOIC — Exit $/SF vs Build Cost $/SF  (Base: $1,176/SF, $360/SF)</a:t>
            </a:r>
          </a:p>
        </p:txBody>
      </p:sp>
      <p:sp>
        <p:nvSpPr>
          <p:cNvPr id="7" name="Rectangle 6"/>
          <p:cNvSpPr/>
          <p:nvPr/>
        </p:nvSpPr>
        <p:spPr>
          <a:xfrm>
            <a:off x="457200" y="1554480"/>
            <a:ext cx="8229600" cy="109728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920240"/>
            <a:ext cx="6400800" cy="457200"/>
          </a:xfrm>
          <a:prstGeom prst="rect">
            <a:avLst/>
          </a:prstGeom>
          <a:noFill/>
        </p:spPr>
        <p:txBody>
          <a:bodyPr wrap="square">
            <a:spAutoFit/>
          </a:bodyPr>
          <a:lstStyle/>
          <a:p>
            <a:pPr algn="ctr"/>
            <a:r>
              <a:rPr sz="900" b="0">
                <a:solidFill>
                  <a:srgbClr val="94A3B8"/>
                </a:solidFill>
                <a:latin typeface="Calibri"/>
              </a:rPr>
              <a:t>Sensitivity values computed in XLS model.
Will auto-populate when formula engine is connected.</a:t>
            </a:r>
          </a:p>
        </p:txBody>
      </p:sp>
      <p:sp>
        <p:nvSpPr>
          <p:cNvPr id="9" name="TextBox 8"/>
          <p:cNvSpPr txBox="1"/>
          <p:nvPr/>
        </p:nvSpPr>
        <p:spPr>
          <a:xfrm>
            <a:off x="457200" y="2926080"/>
            <a:ext cx="8229600" cy="228600"/>
          </a:xfrm>
          <a:prstGeom prst="rect">
            <a:avLst/>
          </a:prstGeom>
          <a:noFill/>
        </p:spPr>
        <p:txBody>
          <a:bodyPr wrap="square">
            <a:spAutoFit/>
          </a:bodyPr>
          <a:lstStyle/>
          <a:p>
            <a:pPr algn="l"/>
            <a:r>
              <a:rPr sz="900" b="1">
                <a:solidFill>
                  <a:srgbClr val="1E293B"/>
                </a:solidFill>
                <a:latin typeface="Calibri"/>
              </a:rPr>
              <a:t>TABLE 2: LP MOIC — Exit $/SF vs Hold Period  (Base: $1,176/SF, 24 months)</a:t>
            </a:r>
          </a:p>
        </p:txBody>
      </p:sp>
      <p:sp>
        <p:nvSpPr>
          <p:cNvPr id="10" name="Rectangle 9"/>
          <p:cNvSpPr/>
          <p:nvPr/>
        </p:nvSpPr>
        <p:spPr>
          <a:xfrm>
            <a:off x="457200" y="3200400"/>
            <a:ext cx="8229600" cy="109728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3566160"/>
            <a:ext cx="6400800" cy="457200"/>
          </a:xfrm>
          <a:prstGeom prst="rect">
            <a:avLst/>
          </a:prstGeom>
          <a:noFill/>
        </p:spPr>
        <p:txBody>
          <a:bodyPr wrap="square">
            <a:spAutoFit/>
          </a:bodyPr>
          <a:lstStyle/>
          <a:p>
            <a:pPr algn="ctr"/>
            <a:r>
              <a:rPr sz="900" b="0">
                <a:solidFill>
                  <a:srgbClr val="94A3B8"/>
                </a:solidFill>
                <a:latin typeface="Calibri"/>
              </a:rPr>
              <a:t>Sensitivity values computed in XLS model.
Will auto-populate when formula engine is connected.</a:t>
            </a:r>
          </a:p>
        </p:txBody>
      </p:sp>
      <p:sp>
        <p:nvSpPr>
          <p:cNvPr id="12" name="TextBox 11"/>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Build-to-Rent Fallback</a:t>
            </a:r>
            <a:r>
              <a:rPr sz="1000">
                <a:solidFill>
                  <a:srgbClr val="14B8A6"/>
                </a:solidFill>
                <a:latin typeface="Calibri"/>
              </a:rPr>
              <a:t>   Downside Protection</a:t>
            </a:r>
          </a:p>
        </p:txBody>
      </p:sp>
      <p:sp>
        <p:nvSpPr>
          <p:cNvPr id="5" name="TextBox 4"/>
          <p:cNvSpPr txBox="1"/>
          <p:nvPr/>
        </p:nvSpPr>
        <p:spPr>
          <a:xfrm>
            <a:off x="457200" y="777240"/>
            <a:ext cx="4846320" cy="2011680"/>
          </a:xfrm>
          <a:prstGeom prst="rect">
            <a:avLst/>
          </a:prstGeom>
          <a:noFill/>
        </p:spPr>
        <p:txBody>
          <a:bodyPr wrap="square">
            <a:spAutoFit/>
          </a:bodyPr>
          <a:lstStyle/>
          <a:p>
            <a:pPr algn="l"/>
            <a:r>
              <a:rPr sz="900" b="0">
                <a:solidFill>
                  <a:srgbClr val="475569"/>
                </a:solidFill>
                <a:latin typeface="Calibri"/>
              </a:rPr>
              <a:t>If sale conditions are unfavorable, units convert to a rental portfolio. Refinance into I/O permanent debt, hold for cash flow + appreciation.
With 3.0% annual rent growth, cash-on-cash improves each year. DSCR floor of 1.25x constrains LTV to maintain lender requirements.
Rent assumptions from GUI deal finder.</a:t>
            </a:r>
          </a:p>
        </p:txBody>
      </p:sp>
      <p:sp>
        <p:nvSpPr>
          <p:cNvPr id="6" name="Rectangle 5"/>
          <p:cNvSpPr/>
          <p:nvPr/>
        </p:nvSpPr>
        <p:spPr>
          <a:xfrm>
            <a:off x="5669280" y="777240"/>
            <a:ext cx="3017520" cy="56692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777240"/>
            <a:ext cx="54864" cy="5669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06440" y="832104"/>
            <a:ext cx="2834640" cy="365760"/>
          </a:xfrm>
          <a:prstGeom prst="rect">
            <a:avLst/>
          </a:prstGeom>
          <a:noFill/>
        </p:spPr>
        <p:txBody>
          <a:bodyPr wrap="square">
            <a:spAutoFit/>
          </a:bodyPr>
          <a:lstStyle/>
          <a:p>
            <a:pPr algn="ctr"/>
            <a:r>
              <a:rPr sz="1600" b="1">
                <a:solidFill>
                  <a:srgbClr val="1E293B"/>
                </a:solidFill>
                <a:latin typeface="Calibri"/>
              </a:rPr>
              <a:t>$4,011/mo</a:t>
            </a:r>
          </a:p>
        </p:txBody>
      </p:sp>
      <p:sp>
        <p:nvSpPr>
          <p:cNvPr id="9" name="TextBox 8"/>
          <p:cNvSpPr txBox="1"/>
          <p:nvPr/>
        </p:nvSpPr>
        <p:spPr>
          <a:xfrm>
            <a:off x="5806440" y="1088136"/>
            <a:ext cx="2834640" cy="201168"/>
          </a:xfrm>
          <a:prstGeom prst="rect">
            <a:avLst/>
          </a:prstGeom>
          <a:noFill/>
        </p:spPr>
        <p:txBody>
          <a:bodyPr wrap="square">
            <a:spAutoFit/>
          </a:bodyPr>
          <a:lstStyle/>
          <a:p>
            <a:pPr algn="ctr"/>
            <a:r>
              <a:rPr sz="700" b="0">
                <a:solidFill>
                  <a:srgbClr val="64748B"/>
                </a:solidFill>
                <a:latin typeface="Calibri"/>
              </a:rPr>
              <a:t>Rent / Unit</a:t>
            </a:r>
          </a:p>
        </p:txBody>
      </p:sp>
      <p:sp>
        <p:nvSpPr>
          <p:cNvPr id="10" name="Rectangle 9"/>
          <p:cNvSpPr/>
          <p:nvPr/>
        </p:nvSpPr>
        <p:spPr>
          <a:xfrm>
            <a:off x="5669280" y="1435607"/>
            <a:ext cx="3017520" cy="56692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0" y="1435607"/>
            <a:ext cx="54864" cy="5669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06440" y="1490471"/>
            <a:ext cx="2834640" cy="365760"/>
          </a:xfrm>
          <a:prstGeom prst="rect">
            <a:avLst/>
          </a:prstGeom>
          <a:noFill/>
        </p:spPr>
        <p:txBody>
          <a:bodyPr wrap="square">
            <a:spAutoFit/>
          </a:bodyPr>
          <a:lstStyle/>
          <a:p>
            <a:pPr algn="ctr"/>
            <a:r>
              <a:rPr sz="1600" b="1">
                <a:solidFill>
                  <a:srgbClr val="1E293B"/>
                </a:solidFill>
                <a:latin typeface="Calibri"/>
              </a:rPr>
              <a:t>$433,188</a:t>
            </a:r>
          </a:p>
        </p:txBody>
      </p:sp>
      <p:sp>
        <p:nvSpPr>
          <p:cNvPr id="13" name="TextBox 12"/>
          <p:cNvSpPr txBox="1"/>
          <p:nvPr/>
        </p:nvSpPr>
        <p:spPr>
          <a:xfrm>
            <a:off x="5806440" y="1746503"/>
            <a:ext cx="2834640" cy="201168"/>
          </a:xfrm>
          <a:prstGeom prst="rect">
            <a:avLst/>
          </a:prstGeom>
          <a:noFill/>
        </p:spPr>
        <p:txBody>
          <a:bodyPr wrap="square">
            <a:spAutoFit/>
          </a:bodyPr>
          <a:lstStyle/>
          <a:p>
            <a:pPr algn="ctr"/>
            <a:r>
              <a:rPr sz="700" b="0">
                <a:solidFill>
                  <a:srgbClr val="64748B"/>
                </a:solidFill>
                <a:latin typeface="Calibri"/>
              </a:rPr>
              <a:t>Gross Potential Income</a:t>
            </a:r>
          </a:p>
        </p:txBody>
      </p:sp>
      <p:sp>
        <p:nvSpPr>
          <p:cNvPr id="14" name="Rectangle 13"/>
          <p:cNvSpPr/>
          <p:nvPr/>
        </p:nvSpPr>
        <p:spPr>
          <a:xfrm>
            <a:off x="5669280" y="2093976"/>
            <a:ext cx="3017520" cy="56692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0" y="2093976"/>
            <a:ext cx="54864" cy="5669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06440" y="2148840"/>
            <a:ext cx="2834640" cy="365760"/>
          </a:xfrm>
          <a:prstGeom prst="rect">
            <a:avLst/>
          </a:prstGeom>
          <a:noFill/>
        </p:spPr>
        <p:txBody>
          <a:bodyPr wrap="square">
            <a:spAutoFit/>
          </a:bodyPr>
          <a:lstStyle/>
          <a:p>
            <a:pPr algn="ctr"/>
            <a:r>
              <a:rPr sz="1600" b="1">
                <a:solidFill>
                  <a:srgbClr val="1E293B"/>
                </a:solidFill>
                <a:latin typeface="Calibri"/>
              </a:rPr>
              <a:t>$288,070</a:t>
            </a:r>
          </a:p>
        </p:txBody>
      </p:sp>
      <p:sp>
        <p:nvSpPr>
          <p:cNvPr id="17" name="TextBox 16"/>
          <p:cNvSpPr txBox="1"/>
          <p:nvPr/>
        </p:nvSpPr>
        <p:spPr>
          <a:xfrm>
            <a:off x="5806440" y="2404872"/>
            <a:ext cx="2834640" cy="201168"/>
          </a:xfrm>
          <a:prstGeom prst="rect">
            <a:avLst/>
          </a:prstGeom>
          <a:noFill/>
        </p:spPr>
        <p:txBody>
          <a:bodyPr wrap="square">
            <a:spAutoFit/>
          </a:bodyPr>
          <a:lstStyle/>
          <a:p>
            <a:pPr algn="ctr"/>
            <a:r>
              <a:rPr sz="700" b="0">
                <a:solidFill>
                  <a:srgbClr val="64748B"/>
                </a:solidFill>
                <a:latin typeface="Calibri"/>
              </a:rPr>
              <a:t>NOI (70% margin)</a:t>
            </a:r>
          </a:p>
        </p:txBody>
      </p:sp>
      <p:sp>
        <p:nvSpPr>
          <p:cNvPr id="18" name="Rectangle 17"/>
          <p:cNvSpPr/>
          <p:nvPr/>
        </p:nvSpPr>
        <p:spPr>
          <a:xfrm>
            <a:off x="5669280" y="2752344"/>
            <a:ext cx="3017520" cy="56692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0" y="2752344"/>
            <a:ext cx="54864" cy="5669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06440" y="2807208"/>
            <a:ext cx="2834640" cy="365760"/>
          </a:xfrm>
          <a:prstGeom prst="rect">
            <a:avLst/>
          </a:prstGeom>
          <a:noFill/>
        </p:spPr>
        <p:txBody>
          <a:bodyPr wrap="square">
            <a:spAutoFit/>
          </a:bodyPr>
          <a:lstStyle/>
          <a:p>
            <a:pPr algn="ctr"/>
            <a:r>
              <a:rPr sz="1600" b="1">
                <a:solidFill>
                  <a:srgbClr val="1E293B"/>
                </a:solidFill>
                <a:latin typeface="Calibri"/>
              </a:rPr>
              <a:t>$5.8M</a:t>
            </a:r>
          </a:p>
        </p:txBody>
      </p:sp>
      <p:sp>
        <p:nvSpPr>
          <p:cNvPr id="21" name="TextBox 20"/>
          <p:cNvSpPr txBox="1"/>
          <p:nvPr/>
        </p:nvSpPr>
        <p:spPr>
          <a:xfrm>
            <a:off x="5806440" y="3063240"/>
            <a:ext cx="2834640" cy="201168"/>
          </a:xfrm>
          <a:prstGeom prst="rect">
            <a:avLst/>
          </a:prstGeom>
          <a:noFill/>
        </p:spPr>
        <p:txBody>
          <a:bodyPr wrap="square">
            <a:spAutoFit/>
          </a:bodyPr>
          <a:lstStyle/>
          <a:p>
            <a:pPr algn="ctr"/>
            <a:r>
              <a:rPr sz="700" b="0">
                <a:solidFill>
                  <a:srgbClr val="64748B"/>
                </a:solidFill>
                <a:latin typeface="Calibri"/>
              </a:rPr>
              <a:t>Stabilized Value (5.0% cap)</a:t>
            </a:r>
          </a:p>
        </p:txBody>
      </p:sp>
      <p:sp>
        <p:nvSpPr>
          <p:cNvPr id="22" name="Rectangle 21"/>
          <p:cNvSpPr/>
          <p:nvPr/>
        </p:nvSpPr>
        <p:spPr>
          <a:xfrm>
            <a:off x="5669280" y="3410712"/>
            <a:ext cx="3017520" cy="56692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3410712"/>
            <a:ext cx="54864" cy="5669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06440" y="3465576"/>
            <a:ext cx="2834640" cy="365760"/>
          </a:xfrm>
          <a:prstGeom prst="rect">
            <a:avLst/>
          </a:prstGeom>
          <a:noFill/>
        </p:spPr>
        <p:txBody>
          <a:bodyPr wrap="square">
            <a:spAutoFit/>
          </a:bodyPr>
          <a:lstStyle/>
          <a:p>
            <a:pPr algn="ctr"/>
            <a:r>
              <a:rPr sz="1600" b="1">
                <a:solidFill>
                  <a:srgbClr val="1E293B"/>
                </a:solidFill>
                <a:latin typeface="Calibri"/>
              </a:rPr>
              <a:t>1.25x</a:t>
            </a:r>
          </a:p>
        </p:txBody>
      </p:sp>
      <p:sp>
        <p:nvSpPr>
          <p:cNvPr id="25" name="TextBox 24"/>
          <p:cNvSpPr txBox="1"/>
          <p:nvPr/>
        </p:nvSpPr>
        <p:spPr>
          <a:xfrm>
            <a:off x="5806440" y="3721608"/>
            <a:ext cx="2834640" cy="201168"/>
          </a:xfrm>
          <a:prstGeom prst="rect">
            <a:avLst/>
          </a:prstGeom>
          <a:noFill/>
        </p:spPr>
        <p:txBody>
          <a:bodyPr wrap="square">
            <a:spAutoFit/>
          </a:bodyPr>
          <a:lstStyle/>
          <a:p>
            <a:pPr algn="ctr"/>
            <a:r>
              <a:rPr sz="700" b="0">
                <a:solidFill>
                  <a:srgbClr val="64748B"/>
                </a:solidFill>
                <a:latin typeface="Calibri"/>
              </a:rPr>
              <a:t>DSCR (I/O)</a:t>
            </a:r>
          </a:p>
        </p:txBody>
      </p:sp>
      <p:sp>
        <p:nvSpPr>
          <p:cNvPr id="26" name="Rectangle 25"/>
          <p:cNvSpPr/>
          <p:nvPr/>
        </p:nvSpPr>
        <p:spPr>
          <a:xfrm>
            <a:off x="5669280" y="4069079"/>
            <a:ext cx="3017520" cy="56692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0" y="4069079"/>
            <a:ext cx="54864" cy="5669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06440" y="4123943"/>
            <a:ext cx="2834640" cy="365760"/>
          </a:xfrm>
          <a:prstGeom prst="rect">
            <a:avLst/>
          </a:prstGeom>
          <a:noFill/>
        </p:spPr>
        <p:txBody>
          <a:bodyPr wrap="square">
            <a:spAutoFit/>
          </a:bodyPr>
          <a:lstStyle/>
          <a:p>
            <a:pPr algn="ctr"/>
            <a:r>
              <a:rPr sz="1600" b="1">
                <a:solidFill>
                  <a:srgbClr val="1E293B"/>
                </a:solidFill>
                <a:latin typeface="Calibri"/>
              </a:rPr>
              <a:t>2.8%</a:t>
            </a:r>
          </a:p>
        </p:txBody>
      </p:sp>
      <p:sp>
        <p:nvSpPr>
          <p:cNvPr id="29" name="TextBox 28"/>
          <p:cNvSpPr txBox="1"/>
          <p:nvPr/>
        </p:nvSpPr>
        <p:spPr>
          <a:xfrm>
            <a:off x="5806440" y="4379975"/>
            <a:ext cx="2834640" cy="201168"/>
          </a:xfrm>
          <a:prstGeom prst="rect">
            <a:avLst/>
          </a:prstGeom>
          <a:noFill/>
        </p:spPr>
        <p:txBody>
          <a:bodyPr wrap="square">
            <a:spAutoFit/>
          </a:bodyPr>
          <a:lstStyle/>
          <a:p>
            <a:pPr algn="ctr"/>
            <a:r>
              <a:rPr sz="700" b="0">
                <a:solidFill>
                  <a:srgbClr val="64748B"/>
                </a:solidFill>
                <a:latin typeface="Calibri"/>
              </a:rPr>
              <a:t>Yield on Cost</a:t>
            </a:r>
          </a:p>
        </p:txBody>
      </p:sp>
      <p:sp>
        <p:nvSpPr>
          <p:cNvPr id="30" name="Rectangle 29"/>
          <p:cNvSpPr/>
          <p:nvPr/>
        </p:nvSpPr>
        <p:spPr>
          <a:xfrm>
            <a:off x="457200" y="4389120"/>
            <a:ext cx="8229600" cy="4114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389120"/>
            <a:ext cx="54864"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434840"/>
            <a:ext cx="7772400" cy="320040"/>
          </a:xfrm>
          <a:prstGeom prst="rect">
            <a:avLst/>
          </a:prstGeom>
          <a:noFill/>
        </p:spPr>
        <p:txBody>
          <a:bodyPr wrap="square">
            <a:spAutoFit/>
          </a:bodyPr>
          <a:lstStyle/>
          <a:p>
            <a:pPr algn="ctr"/>
            <a:r>
              <a:rPr sz="900" b="1">
                <a:solidFill>
                  <a:srgbClr val="FFFFFF"/>
                </a:solidFill>
                <a:latin typeface="Calibri"/>
              </a:rPr>
              <a:t>If sale market unfavorable, target rent: $36,099/month gross.</a:t>
            </a:r>
          </a:p>
        </p:txBody>
      </p:sp>
      <p:sp>
        <p:nvSpPr>
          <p:cNvPr id="33" name="TextBox 32"/>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Deal Structure &amp; Waterfall</a:t>
            </a:r>
          </a:p>
        </p:txBody>
      </p:sp>
      <p:graphicFrame>
        <p:nvGraphicFramePr>
          <p:cNvPr id="5" name="Table 4"/>
          <p:cNvGraphicFramePr>
            <a:graphicFrameLocks noGrp="1"/>
          </p:cNvGraphicFramePr>
          <p:nvPr/>
        </p:nvGraphicFramePr>
        <p:xfrm>
          <a:off x="457200" y="777240"/>
          <a:ext cx="3931920" cy="1600200"/>
        </p:xfrm>
        <a:graphic>
          <a:graphicData uri="http://schemas.openxmlformats.org/drawingml/2006/table">
            <a:tbl>
              <a:tblPr firstRow="1" bandRow="1">
                <a:tableStyleId>{5C22544A-7EE6-4342-B048-85BDC9FD1C3A}</a:tableStyleId>
              </a:tblPr>
              <a:tblGrid>
                <a:gridCol w="731520"/>
                <a:gridCol w="1828800"/>
                <a:gridCol w="1371600"/>
              </a:tblGrid>
              <a:tr h="320040">
                <a:tc>
                  <a:txBody>
                    <a:bodyPr/>
                    <a:lstStyle/>
                    <a:p>
                      <a:pPr algn="l">
                        <a:spcBef>
                          <a:spcPts val="0"/>
                        </a:spcBef>
                        <a:spcAft>
                          <a:spcPts val="0"/>
                        </a:spcAft>
                      </a:pPr>
                      <a:r>
                        <a:rPr sz="800" b="1">
                          <a:solidFill>
                            <a:srgbClr val="FFFFFF"/>
                          </a:solidFill>
                          <a:latin typeface="Calibri"/>
                        </a:rPr>
                        <a:t>Priority</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FFFFFF"/>
                          </a:solidFill>
                          <a:latin typeface="Calibri"/>
                        </a:rPr>
                        <a:t>Distribution</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FFFFFF"/>
                          </a:solidFill>
                          <a:latin typeface="Calibri"/>
                        </a:rPr>
                        <a:t>Recipient</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20040">
                <a:tc>
                  <a:txBody>
                    <a:bodyPr/>
                    <a:lstStyle/>
                    <a:p>
                      <a:pPr algn="l">
                        <a:spcBef>
                          <a:spcPts val="0"/>
                        </a:spcBef>
                        <a:spcAft>
                          <a:spcPts val="0"/>
                        </a:spcAft>
                      </a:pPr>
                      <a:r>
                        <a:rPr sz="800">
                          <a:solidFill>
                            <a:srgbClr val="334155"/>
                          </a:solidFill>
                          <a:latin typeface="Calibri"/>
                        </a:rPr>
                        <a:t>1st</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Debt Repayment</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Lender</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20040">
                <a:tc>
                  <a:txBody>
                    <a:bodyPr/>
                    <a:lstStyle/>
                    <a:p>
                      <a:pPr algn="l">
                        <a:spcBef>
                          <a:spcPts val="0"/>
                        </a:spcBef>
                        <a:spcAft>
                          <a:spcPts val="0"/>
                        </a:spcAft>
                      </a:pPr>
                      <a:r>
                        <a:rPr sz="800">
                          <a:solidFill>
                            <a:srgbClr val="334155"/>
                          </a:solidFill>
                          <a:latin typeface="Calibri"/>
                        </a:rPr>
                        <a:t>2nd</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Return of Capital</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100% LP + GP (pro rata)</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20040">
                <a:tc>
                  <a:txBody>
                    <a:bodyPr/>
                    <a:lstStyle/>
                    <a:p>
                      <a:pPr algn="l">
                        <a:spcBef>
                          <a:spcPts val="0"/>
                        </a:spcBef>
                        <a:spcAft>
                          <a:spcPts val="0"/>
                        </a:spcAft>
                      </a:pPr>
                      <a:r>
                        <a:rPr sz="800">
                          <a:solidFill>
                            <a:srgbClr val="334155"/>
                          </a:solidFill>
                          <a:latin typeface="Calibri"/>
                        </a:rPr>
                        <a:t>3rd</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LP Preferred (8.0% annual)</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100% LP</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20040">
                <a:tc>
                  <a:txBody>
                    <a:bodyPr/>
                    <a:lstStyle/>
                    <a:p>
                      <a:pPr algn="l">
                        <a:spcBef>
                          <a:spcPts val="0"/>
                        </a:spcBef>
                        <a:spcAft>
                          <a:spcPts val="0"/>
                        </a:spcAft>
                      </a:pPr>
                      <a:r>
                        <a:rPr sz="800">
                          <a:solidFill>
                            <a:srgbClr val="334155"/>
                          </a:solidFill>
                          <a:latin typeface="Calibri"/>
                        </a:rPr>
                        <a:t>4th</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Remaining Profits</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80.0% LP / 20.0% GP</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bl>
          </a:graphicData>
        </a:graphic>
      </p:graphicFrame>
      <p:graphicFrame>
        <p:nvGraphicFramePr>
          <p:cNvPr id="6" name="Table 5"/>
          <p:cNvGraphicFramePr>
            <a:graphicFrameLocks noGrp="1"/>
          </p:cNvGraphicFramePr>
          <p:nvPr/>
        </p:nvGraphicFramePr>
        <p:xfrm>
          <a:off x="4754880" y="777240"/>
          <a:ext cx="3657600" cy="1920240"/>
        </p:xfrm>
        <a:graphic>
          <a:graphicData uri="http://schemas.openxmlformats.org/drawingml/2006/table">
            <a:tbl>
              <a:tblPr firstRow="1" bandRow="1">
                <a:tableStyleId>{5C22544A-7EE6-4342-B048-85BDC9FD1C3A}</a:tableStyleId>
              </a:tblPr>
              <a:tblGrid>
                <a:gridCol w="1371600"/>
                <a:gridCol w="1097280"/>
                <a:gridCol w="1188720"/>
              </a:tblGrid>
              <a:tr h="320040">
                <a:tc>
                  <a:txBody>
                    <a:bodyPr/>
                    <a:lstStyle/>
                    <a:p>
                      <a:pPr algn="l">
                        <a:spcBef>
                          <a:spcPts val="0"/>
                        </a:spcBef>
                        <a:spcAft>
                          <a:spcPts val="0"/>
                        </a:spcAft>
                      </a:pPr>
                      <a:r>
                        <a:rPr sz="800" b="1">
                          <a:solidFill>
                            <a:srgbClr val="FFFFFF"/>
                          </a:solidFill>
                          <a:latin typeface="Calibri"/>
                        </a:rPr>
                        <a:t>Fee</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FFFFFF"/>
                          </a:solidFill>
                          <a:latin typeface="Calibri"/>
                        </a:rPr>
                        <a:t>Basis</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FFFFFF"/>
                          </a:solidFill>
                          <a:latin typeface="Calibri"/>
                        </a:rPr>
                        <a:t>Amount</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20040">
                <a:tc>
                  <a:txBody>
                    <a:bodyPr/>
                    <a:lstStyle/>
                    <a:p>
                      <a:pPr algn="l">
                        <a:spcBef>
                          <a:spcPts val="0"/>
                        </a:spcBef>
                        <a:spcAft>
                          <a:spcPts val="0"/>
                        </a:spcAft>
                      </a:pPr>
                      <a:r>
                        <a:rPr sz="800">
                          <a:solidFill>
                            <a:srgbClr val="334155"/>
                          </a:solidFill>
                          <a:latin typeface="Calibri"/>
                        </a:rPr>
                        <a:t>Acquisition Fee</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2.0%</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$46,000</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20040">
                <a:tc>
                  <a:txBody>
                    <a:bodyPr/>
                    <a:lstStyle/>
                    <a:p>
                      <a:pPr algn="l">
                        <a:spcBef>
                          <a:spcPts val="0"/>
                        </a:spcBef>
                        <a:spcAft>
                          <a:spcPts val="0"/>
                        </a:spcAft>
                      </a:pPr>
                      <a:r>
                        <a:rPr sz="800">
                          <a:solidFill>
                            <a:srgbClr val="334155"/>
                          </a:solidFill>
                          <a:latin typeface="Calibri"/>
                        </a:rPr>
                        <a:t>Asset Mgmt</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$3,000/mo</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$72,000</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20040">
                <a:tc>
                  <a:txBody>
                    <a:bodyPr/>
                    <a:lstStyle/>
                    <a:p>
                      <a:pPr algn="l">
                        <a:spcBef>
                          <a:spcPts val="0"/>
                        </a:spcBef>
                        <a:spcAft>
                          <a:spcPts val="0"/>
                        </a:spcAft>
                      </a:pPr>
                      <a:r>
                        <a:rPr sz="800">
                          <a:solidFill>
                            <a:srgbClr val="334155"/>
                          </a:solidFill>
                          <a:latin typeface="Calibri"/>
                        </a:rPr>
                        <a:t>Dev Mgmt</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$5,000/mo (constr)</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$60,000</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20040">
                <a:tc>
                  <a:txBody>
                    <a:bodyPr/>
                    <a:lstStyle/>
                    <a:p>
                      <a:pPr algn="l">
                        <a:spcBef>
                          <a:spcPts val="0"/>
                        </a:spcBef>
                        <a:spcAft>
                          <a:spcPts val="0"/>
                        </a:spcAft>
                      </a:pPr>
                      <a:r>
                        <a:rPr sz="800">
                          <a:solidFill>
                            <a:srgbClr val="334155"/>
                          </a:solidFill>
                          <a:latin typeface="Calibri"/>
                        </a:rPr>
                        <a:t>Disposition Fee</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1.0%</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$185,220</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20040">
                <a:tc>
                  <a:txBody>
                    <a:bodyPr/>
                    <a:lstStyle/>
                    <a:p>
                      <a:pPr algn="l">
                        <a:spcBef>
                          <a:spcPts val="0"/>
                        </a:spcBef>
                        <a:spcAft>
                          <a:spcPts val="0"/>
                        </a:spcAft>
                      </a:pPr>
                      <a:r>
                        <a:rPr sz="800" b="1">
                          <a:solidFill>
                            <a:srgbClr val="1E293B"/>
                          </a:solidFill>
                          <a:latin typeface="Calibri"/>
                        </a:rPr>
                        <a:t>Total Fees</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1E293B"/>
                          </a:solidFill>
                          <a:latin typeface="Calibri"/>
                        </a:rPr>
                        <a:t>3.6%</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1E293B"/>
                          </a:solidFill>
                          <a:latin typeface="Calibri"/>
                        </a:rPr>
                        <a:t>$363,220</a:t>
                      </a:r>
                    </a:p>
                  </a:txBody>
                  <a:tcPr anchor="ctr" marL="73152" marR="73152" marT="27432" marB="27432">
                    <a:solidFill>
                      <a:srgbClr val="E2E8F0"/>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bl>
          </a:graphicData>
        </a:graphic>
      </p:graphicFrame>
      <p:sp>
        <p:nvSpPr>
          <p:cNvPr id="7" name="Rectangle 6"/>
          <p:cNvSpPr/>
          <p:nvPr/>
        </p:nvSpPr>
        <p:spPr>
          <a:xfrm>
            <a:off x="457200" y="3017520"/>
            <a:ext cx="82296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3017520"/>
            <a:ext cx="54864"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63240"/>
            <a:ext cx="7772400" cy="365760"/>
          </a:xfrm>
          <a:prstGeom prst="rect">
            <a:avLst/>
          </a:prstGeom>
          <a:noFill/>
        </p:spPr>
        <p:txBody>
          <a:bodyPr wrap="square">
            <a:spAutoFit/>
          </a:bodyPr>
          <a:lstStyle/>
          <a:p>
            <a:pPr algn="l"/>
            <a:r>
              <a:rPr sz="900" b="1">
                <a:solidFill>
                  <a:srgbClr val="1E293B"/>
                </a:solidFill>
                <a:latin typeface="Calibri"/>
              </a:rPr>
              <a:t>GP co-invests 5.0% alongside LPs. Promote subordinated to 8.0% annual pref. Fees (3.6% of cap) below market for ground-up development.</a:t>
            </a:r>
          </a:p>
        </p:txBody>
      </p:sp>
      <p:sp>
        <p:nvSpPr>
          <p:cNvPr id="10" name="TextBox 9"/>
          <p:cNvSpPr txBox="1"/>
          <p:nvPr/>
        </p:nvSpPr>
        <p:spPr>
          <a:xfrm>
            <a:off x="457200" y="3657600"/>
            <a:ext cx="8229600" cy="182880"/>
          </a:xfrm>
          <a:prstGeom prst="rect">
            <a:avLst/>
          </a:prstGeom>
          <a:noFill/>
        </p:spPr>
        <p:txBody>
          <a:bodyPr wrap="square">
            <a:spAutoFit/>
          </a:bodyPr>
          <a:lstStyle/>
          <a:p>
            <a:pPr algn="l"/>
            <a:r>
              <a:rPr sz="900" b="1">
                <a:solidFill>
                  <a:srgbClr val="1E293B"/>
                </a:solidFill>
                <a:latin typeface="Calibri"/>
              </a:rPr>
              <a:t>SPONSOR ECONOMICS</a:t>
            </a:r>
          </a:p>
        </p:txBody>
      </p:sp>
      <p:sp>
        <p:nvSpPr>
          <p:cNvPr id="11" name="TextBox 10"/>
          <p:cNvSpPr txBox="1"/>
          <p:nvPr/>
        </p:nvSpPr>
        <p:spPr>
          <a:xfrm>
            <a:off x="457200" y="3886200"/>
            <a:ext cx="8229600" cy="365760"/>
          </a:xfrm>
          <a:prstGeom prst="rect">
            <a:avLst/>
          </a:prstGeom>
          <a:noFill/>
        </p:spPr>
        <p:txBody>
          <a:bodyPr wrap="square">
            <a:spAutoFit/>
          </a:bodyPr>
          <a:lstStyle/>
          <a:p>
            <a:pPr algn="l"/>
            <a:r>
              <a:rPr sz="800" b="0">
                <a:solidFill>
                  <a:srgbClr val="475569"/>
                </a:solidFill>
                <a:latin typeface="Calibri"/>
              </a:rPr>
              <a:t>GP Total Income: $1.7M  |  Promote: $1.2M  |  Fees: $363,220  |  GP Fee Load: 3.6% of gross revenue</a:t>
            </a:r>
          </a:p>
        </p:txBody>
      </p:sp>
      <p:sp>
        <p:nvSpPr>
          <p:cNvPr id="12" name="TextBox 11"/>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Investment Terms</a:t>
            </a:r>
          </a:p>
        </p:txBody>
      </p:sp>
      <p:graphicFrame>
        <p:nvGraphicFramePr>
          <p:cNvPr id="5" name="Table 4"/>
          <p:cNvGraphicFramePr>
            <a:graphicFrameLocks noGrp="1"/>
          </p:cNvGraphicFramePr>
          <p:nvPr/>
        </p:nvGraphicFramePr>
        <p:xfrm>
          <a:off x="457200" y="777240"/>
          <a:ext cx="5029200" cy="3127248"/>
        </p:xfrm>
        <a:graphic>
          <a:graphicData uri="http://schemas.openxmlformats.org/drawingml/2006/table">
            <a:tbl>
              <a:tblPr firstRow="1" bandRow="1">
                <a:tableStyleId>{5C22544A-7EE6-4342-B048-85BDC9FD1C3A}</a:tableStyleId>
              </a:tblPr>
              <a:tblGrid>
                <a:gridCol w="2011680"/>
                <a:gridCol w="3017520"/>
              </a:tblGrid>
              <a:tr h="347472">
                <a:tc>
                  <a:txBody>
                    <a:bodyPr/>
                    <a:lstStyle/>
                    <a:p>
                      <a:pPr algn="l">
                        <a:spcBef>
                          <a:spcPts val="0"/>
                        </a:spcBef>
                        <a:spcAft>
                          <a:spcPts val="0"/>
                        </a:spcAft>
                      </a:pPr>
                      <a:r>
                        <a:rPr sz="800" b="1">
                          <a:solidFill>
                            <a:srgbClr val="FFFFFF"/>
                          </a:solidFill>
                          <a:latin typeface="Calibri"/>
                        </a:rPr>
                        <a:t>Term</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b="1">
                          <a:solidFill>
                            <a:srgbClr val="FFFFFF"/>
                          </a:solidFill>
                          <a:latin typeface="Calibri"/>
                        </a:rPr>
                        <a:t>Detail</a:t>
                      </a:r>
                    </a:p>
                  </a:txBody>
                  <a:tcPr anchor="ctr" marL="73152" marR="73152" marT="27432" marB="27432">
                    <a:solidFill>
                      <a:srgbClr val="1E293B"/>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47472">
                <a:tc>
                  <a:txBody>
                    <a:bodyPr/>
                    <a:lstStyle/>
                    <a:p>
                      <a:pPr algn="l">
                        <a:spcBef>
                          <a:spcPts val="0"/>
                        </a:spcBef>
                        <a:spcAft>
                          <a:spcPts val="0"/>
                        </a:spcAft>
                      </a:pPr>
                      <a:r>
                        <a:rPr sz="800">
                          <a:solidFill>
                            <a:srgbClr val="334155"/>
                          </a:solidFill>
                          <a:latin typeface="Calibri"/>
                        </a:rPr>
                        <a:t>LP Equity</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~$2.5M</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47472">
                <a:tc>
                  <a:txBody>
                    <a:bodyPr/>
                    <a:lstStyle/>
                    <a:p>
                      <a:pPr algn="l">
                        <a:spcBef>
                          <a:spcPts val="0"/>
                        </a:spcBef>
                        <a:spcAft>
                          <a:spcPts val="0"/>
                        </a:spcAft>
                      </a:pPr>
                      <a:r>
                        <a:rPr sz="800">
                          <a:solidFill>
                            <a:srgbClr val="334155"/>
                          </a:solidFill>
                          <a:latin typeface="Calibri"/>
                        </a:rPr>
                        <a:t>GP Co-Invest</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5.0% ($131,500)</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47472">
                <a:tc>
                  <a:txBody>
                    <a:bodyPr/>
                    <a:lstStyle/>
                    <a:p>
                      <a:pPr algn="l">
                        <a:spcBef>
                          <a:spcPts val="0"/>
                        </a:spcBef>
                        <a:spcAft>
                          <a:spcPts val="0"/>
                        </a:spcAft>
                      </a:pPr>
                      <a:r>
                        <a:rPr sz="800">
                          <a:solidFill>
                            <a:srgbClr val="334155"/>
                          </a:solidFill>
                          <a:latin typeface="Calibri"/>
                        </a:rPr>
                        <a:t>Total Equity</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$2.6M</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47472">
                <a:tc>
                  <a:txBody>
                    <a:bodyPr/>
                    <a:lstStyle/>
                    <a:p>
                      <a:pPr algn="l">
                        <a:spcBef>
                          <a:spcPts val="0"/>
                        </a:spcBef>
                        <a:spcAft>
                          <a:spcPts val="0"/>
                        </a:spcAft>
                      </a:pPr>
                      <a:r>
                        <a:rPr sz="800">
                          <a:solidFill>
                            <a:srgbClr val="334155"/>
                          </a:solidFill>
                          <a:latin typeface="Calibri"/>
                        </a:rPr>
                        <a:t>LP Preferred Return</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8.0% annual (cumulative)</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47472">
                <a:tc>
                  <a:txBody>
                    <a:bodyPr/>
                    <a:lstStyle/>
                    <a:p>
                      <a:pPr algn="l">
                        <a:spcBef>
                          <a:spcPts val="0"/>
                        </a:spcBef>
                        <a:spcAft>
                          <a:spcPts val="0"/>
                        </a:spcAft>
                      </a:pPr>
                      <a:r>
                        <a:rPr sz="800">
                          <a:solidFill>
                            <a:srgbClr val="334155"/>
                          </a:solidFill>
                          <a:latin typeface="Calibri"/>
                        </a:rPr>
                        <a:t>Profit Split (above pref)</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80.0% LP / 20.0% GP</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47472">
                <a:tc>
                  <a:txBody>
                    <a:bodyPr/>
                    <a:lstStyle/>
                    <a:p>
                      <a:pPr algn="l">
                        <a:spcBef>
                          <a:spcPts val="0"/>
                        </a:spcBef>
                        <a:spcAft>
                          <a:spcPts val="0"/>
                        </a:spcAft>
                      </a:pPr>
                      <a:r>
                        <a:rPr sz="800">
                          <a:solidFill>
                            <a:srgbClr val="334155"/>
                          </a:solidFill>
                          <a:latin typeface="Calibri"/>
                        </a:rPr>
                        <a:t>Target Hold</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~24 months</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47472">
                <a:tc>
                  <a:txBody>
                    <a:bodyPr/>
                    <a:lstStyle/>
                    <a:p>
                      <a:pPr algn="l">
                        <a:spcBef>
                          <a:spcPts val="0"/>
                        </a:spcBef>
                        <a:spcAft>
                          <a:spcPts val="0"/>
                        </a:spcAft>
                      </a:pPr>
                      <a:r>
                        <a:rPr sz="800">
                          <a:solidFill>
                            <a:srgbClr val="334155"/>
                          </a:solidFill>
                          <a:latin typeface="Calibri"/>
                        </a:rPr>
                        <a:t>Capital Call</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100% at close</a:t>
                      </a:r>
                    </a:p>
                  </a:txBody>
                  <a:tcPr anchor="ctr" marL="73152" marR="73152" marT="27432" marB="27432">
                    <a:solidFill>
                      <a:srgbClr val="FFFFFF"/>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r h="347472">
                <a:tc>
                  <a:txBody>
                    <a:bodyPr/>
                    <a:lstStyle/>
                    <a:p>
                      <a:pPr algn="l">
                        <a:spcBef>
                          <a:spcPts val="0"/>
                        </a:spcBef>
                        <a:spcAft>
                          <a:spcPts val="0"/>
                        </a:spcAft>
                      </a:pPr>
                      <a:r>
                        <a:rPr sz="800">
                          <a:solidFill>
                            <a:srgbClr val="334155"/>
                          </a:solidFill>
                          <a:latin typeface="Calibri"/>
                        </a:rPr>
                        <a:t>Distributions</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c>
                  <a:txBody>
                    <a:bodyPr/>
                    <a:lstStyle/>
                    <a:p>
                      <a:pPr algn="r">
                        <a:spcBef>
                          <a:spcPts val="0"/>
                        </a:spcBef>
                        <a:spcAft>
                          <a:spcPts val="0"/>
                        </a:spcAft>
                      </a:pPr>
                      <a:r>
                        <a:rPr sz="800">
                          <a:solidFill>
                            <a:srgbClr val="334155"/>
                          </a:solidFill>
                          <a:latin typeface="Calibri"/>
                        </a:rPr>
                        <a:t>Upon sale or refinancing event</a:t>
                      </a:r>
                    </a:p>
                  </a:txBody>
                  <a:tcPr anchor="ctr" marL="73152" marR="73152" marT="27432" marB="27432">
                    <a:solidFill>
                      <a:srgbClr val="F8FAFC"/>
                    </a:solidFill>
                    <a:lnL w="6350" cap="flat">
                      <a:solidFill>
                        <a:srgbClr val="E2E8F0"/>
                      </a:solidFill>
                    </a:lnL>
                    <a:lnR w="6350" cap="flat">
                      <a:solidFill>
                        <a:srgbClr val="E2E8F0"/>
                      </a:solidFill>
                    </a:lnR>
                    <a:lnT w="6350" cap="flat">
                      <a:solidFill>
                        <a:srgbClr val="E2E8F0"/>
                      </a:solidFill>
                    </a:lnT>
                    <a:lnB w="6350" cap="flat">
                      <a:solidFill>
                        <a:srgbClr val="E2E8F0"/>
                      </a:solidFill>
                    </a:lnB>
                  </a:tcPr>
                </a:tc>
              </a:tr>
            </a:tbl>
          </a:graphicData>
        </a:graphic>
      </p:graphicFrame>
      <p:sp>
        <p:nvSpPr>
          <p:cNvPr id="6" name="Rectangle 5"/>
          <p:cNvSpPr/>
          <p:nvPr/>
        </p:nvSpPr>
        <p:spPr>
          <a:xfrm>
            <a:off x="5760720" y="777240"/>
            <a:ext cx="2926080" cy="36576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60720" y="777240"/>
            <a:ext cx="54864" cy="3657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914400"/>
            <a:ext cx="2468880" cy="228600"/>
          </a:xfrm>
          <a:prstGeom prst="rect">
            <a:avLst/>
          </a:prstGeom>
          <a:noFill/>
        </p:spPr>
        <p:txBody>
          <a:bodyPr wrap="square">
            <a:spAutoFit/>
          </a:bodyPr>
          <a:lstStyle/>
          <a:p>
            <a:pPr algn="l"/>
            <a:r>
              <a:rPr sz="1000" b="1">
                <a:solidFill>
                  <a:srgbClr val="1E293B"/>
                </a:solidFill>
                <a:latin typeface="Calibri"/>
              </a:rPr>
              <a:t>GP ALIGNMENT</a:t>
            </a:r>
          </a:p>
        </p:txBody>
      </p:sp>
      <p:sp>
        <p:nvSpPr>
          <p:cNvPr id="9" name="Rectangle 8"/>
          <p:cNvSpPr/>
          <p:nvPr/>
        </p:nvSpPr>
        <p:spPr>
          <a:xfrm>
            <a:off x="6035040" y="1362456"/>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25880"/>
            <a:ext cx="2286000" cy="365760"/>
          </a:xfrm>
          <a:prstGeom prst="rect">
            <a:avLst/>
          </a:prstGeom>
          <a:noFill/>
        </p:spPr>
        <p:txBody>
          <a:bodyPr wrap="square">
            <a:spAutoFit/>
          </a:bodyPr>
          <a:lstStyle/>
          <a:p>
            <a:pPr algn="l"/>
            <a:r>
              <a:rPr sz="800" b="0">
                <a:solidFill>
                  <a:srgbClr val="475569"/>
                </a:solidFill>
                <a:latin typeface="Calibri"/>
              </a:rPr>
              <a:t>8.0% annual pref before GP promote</a:t>
            </a:r>
          </a:p>
        </p:txBody>
      </p:sp>
      <p:sp>
        <p:nvSpPr>
          <p:cNvPr id="11" name="Rectangle 10"/>
          <p:cNvSpPr/>
          <p:nvPr/>
        </p:nvSpPr>
        <p:spPr>
          <a:xfrm>
            <a:off x="6035040" y="1819656"/>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783080"/>
            <a:ext cx="2286000" cy="365760"/>
          </a:xfrm>
          <a:prstGeom prst="rect">
            <a:avLst/>
          </a:prstGeom>
          <a:noFill/>
        </p:spPr>
        <p:txBody>
          <a:bodyPr wrap="square">
            <a:spAutoFit/>
          </a:bodyPr>
          <a:lstStyle/>
          <a:p>
            <a:pPr algn="l"/>
            <a:r>
              <a:rPr sz="800" b="0">
                <a:solidFill>
                  <a:srgbClr val="475569"/>
                </a:solidFill>
                <a:latin typeface="Calibri"/>
              </a:rPr>
              <a:t>GP co-invests 5.0% alongside LPs</a:t>
            </a:r>
          </a:p>
        </p:txBody>
      </p:sp>
      <p:sp>
        <p:nvSpPr>
          <p:cNvPr id="13" name="Rectangle 12"/>
          <p:cNvSpPr/>
          <p:nvPr/>
        </p:nvSpPr>
        <p:spPr>
          <a:xfrm>
            <a:off x="6035040" y="2276856"/>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2240280"/>
            <a:ext cx="2286000" cy="365760"/>
          </a:xfrm>
          <a:prstGeom prst="rect">
            <a:avLst/>
          </a:prstGeom>
          <a:noFill/>
        </p:spPr>
        <p:txBody>
          <a:bodyPr wrap="square">
            <a:spAutoFit/>
          </a:bodyPr>
          <a:lstStyle/>
          <a:p>
            <a:pPr algn="l"/>
            <a:r>
              <a:rPr sz="800" b="0">
                <a:solidFill>
                  <a:srgbClr val="475569"/>
                </a:solidFill>
                <a:latin typeface="Calibri"/>
              </a:rPr>
              <a:t>Fees at 3.6% of cap (below market)</a:t>
            </a:r>
          </a:p>
        </p:txBody>
      </p:sp>
      <p:sp>
        <p:nvSpPr>
          <p:cNvPr id="15" name="Rectangle 14"/>
          <p:cNvSpPr/>
          <p:nvPr/>
        </p:nvSpPr>
        <p:spPr>
          <a:xfrm>
            <a:off x="6035040" y="2734056"/>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697480"/>
            <a:ext cx="2286000" cy="365760"/>
          </a:xfrm>
          <a:prstGeom prst="rect">
            <a:avLst/>
          </a:prstGeom>
          <a:noFill/>
        </p:spPr>
        <p:txBody>
          <a:bodyPr wrap="square">
            <a:spAutoFit/>
          </a:bodyPr>
          <a:lstStyle/>
          <a:p>
            <a:pPr algn="l"/>
            <a:r>
              <a:rPr sz="800" b="0">
                <a:solidFill>
                  <a:srgbClr val="475569"/>
                </a:solidFill>
                <a:latin typeface="Calibri"/>
              </a:rPr>
              <a:t>Both principals active: acquisition → disposition</a:t>
            </a:r>
          </a:p>
        </p:txBody>
      </p:sp>
      <p:sp>
        <p:nvSpPr>
          <p:cNvPr id="17" name="Rectangle 16"/>
          <p:cNvSpPr/>
          <p:nvPr/>
        </p:nvSpPr>
        <p:spPr>
          <a:xfrm>
            <a:off x="6035040" y="3191256"/>
            <a:ext cx="731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3154680"/>
            <a:ext cx="2286000" cy="365760"/>
          </a:xfrm>
          <a:prstGeom prst="rect">
            <a:avLst/>
          </a:prstGeom>
          <a:noFill/>
        </p:spPr>
        <p:txBody>
          <a:bodyPr wrap="square">
            <a:spAutoFit/>
          </a:bodyPr>
          <a:lstStyle/>
          <a:p>
            <a:pPr algn="l"/>
            <a:r>
              <a:rPr sz="800" b="0">
                <a:solidFill>
                  <a:srgbClr val="475569"/>
                </a:solidFill>
                <a:latin typeface="Calibri"/>
              </a:rPr>
              <a:t>No GP promote until LP pref is met</a:t>
            </a:r>
          </a:p>
        </p:txBody>
      </p:sp>
      <p:sp>
        <p:nvSpPr>
          <p:cNvPr id="19" name="TextBox 18"/>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Risk Factors &amp; Mitigants</a:t>
            </a:r>
          </a:p>
        </p:txBody>
      </p:sp>
      <p:sp>
        <p:nvSpPr>
          <p:cNvPr id="5" name="Rectangle 4"/>
          <p:cNvSpPr/>
          <p:nvPr/>
        </p:nvSpPr>
        <p:spPr>
          <a:xfrm>
            <a:off x="457200" y="7772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8869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1</a:t>
            </a:r>
          </a:p>
        </p:txBody>
      </p:sp>
      <p:sp>
        <p:nvSpPr>
          <p:cNvPr id="7" name="TextBox 6"/>
          <p:cNvSpPr txBox="1"/>
          <p:nvPr/>
        </p:nvSpPr>
        <p:spPr>
          <a:xfrm>
            <a:off x="1005840" y="886968"/>
            <a:ext cx="3337560" cy="228600"/>
          </a:xfrm>
          <a:prstGeom prst="rect">
            <a:avLst/>
          </a:prstGeom>
          <a:noFill/>
        </p:spPr>
        <p:txBody>
          <a:bodyPr wrap="square">
            <a:spAutoFit/>
          </a:bodyPr>
          <a:lstStyle/>
          <a:p>
            <a:pPr algn="l"/>
            <a:r>
              <a:rPr sz="1000" b="1">
                <a:solidFill>
                  <a:srgbClr val="1E293B"/>
                </a:solidFill>
                <a:latin typeface="Calibri"/>
              </a:rPr>
              <a:t>Construction Overruns</a:t>
            </a:r>
          </a:p>
        </p:txBody>
      </p:sp>
      <p:sp>
        <p:nvSpPr>
          <p:cNvPr id="8" name="TextBox 7"/>
          <p:cNvSpPr txBox="1"/>
          <p:nvPr/>
        </p:nvSpPr>
        <p:spPr>
          <a:xfrm>
            <a:off x="1005840" y="1143000"/>
            <a:ext cx="3337560" cy="731520"/>
          </a:xfrm>
          <a:prstGeom prst="rect">
            <a:avLst/>
          </a:prstGeom>
          <a:noFill/>
        </p:spPr>
        <p:txBody>
          <a:bodyPr wrap="square">
            <a:spAutoFit/>
          </a:bodyPr>
          <a:lstStyle/>
          <a:p>
            <a:pPr algn="l"/>
            <a:r>
              <a:rPr sz="800" b="0">
                <a:solidFill>
                  <a:srgbClr val="475569"/>
                </a:solidFill>
                <a:latin typeface="Calibri"/>
              </a:rPr>
              <a:t>Soft costs at 25.0% of hard. $642/SF all-in provides 1.8x margin.</a:t>
            </a:r>
          </a:p>
        </p:txBody>
      </p:sp>
      <p:sp>
        <p:nvSpPr>
          <p:cNvPr id="9" name="Rectangle 8"/>
          <p:cNvSpPr/>
          <p:nvPr/>
        </p:nvSpPr>
        <p:spPr>
          <a:xfrm>
            <a:off x="4754880" y="7772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37760" y="8869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2</a:t>
            </a:r>
          </a:p>
        </p:txBody>
      </p:sp>
      <p:sp>
        <p:nvSpPr>
          <p:cNvPr id="11" name="TextBox 10"/>
          <p:cNvSpPr txBox="1"/>
          <p:nvPr/>
        </p:nvSpPr>
        <p:spPr>
          <a:xfrm>
            <a:off x="5303520" y="886968"/>
            <a:ext cx="3337560" cy="228600"/>
          </a:xfrm>
          <a:prstGeom prst="rect">
            <a:avLst/>
          </a:prstGeom>
          <a:noFill/>
        </p:spPr>
        <p:txBody>
          <a:bodyPr wrap="square">
            <a:spAutoFit/>
          </a:bodyPr>
          <a:lstStyle/>
          <a:p>
            <a:pPr algn="l"/>
            <a:r>
              <a:rPr sz="1000" b="1">
                <a:solidFill>
                  <a:srgbClr val="1E293B"/>
                </a:solidFill>
                <a:latin typeface="Calibri"/>
              </a:rPr>
              <a:t>Entitlement Risk</a:t>
            </a:r>
          </a:p>
        </p:txBody>
      </p:sp>
      <p:sp>
        <p:nvSpPr>
          <p:cNvPr id="12" name="TextBox 11"/>
          <p:cNvSpPr txBox="1"/>
          <p:nvPr/>
        </p:nvSpPr>
        <p:spPr>
          <a:xfrm>
            <a:off x="5303520" y="1143000"/>
            <a:ext cx="3337560" cy="731520"/>
          </a:xfrm>
          <a:prstGeom prst="rect">
            <a:avLst/>
          </a:prstGeom>
          <a:noFill/>
        </p:spPr>
        <p:txBody>
          <a:bodyPr wrap="square">
            <a:spAutoFit/>
          </a:bodyPr>
          <a:lstStyle/>
          <a:p>
            <a:pPr algn="l"/>
            <a:r>
              <a:rPr sz="800" b="0">
                <a:solidFill>
                  <a:srgbClr val="475569"/>
                </a:solidFill>
                <a:latin typeface="Calibri"/>
              </a:rPr>
              <a:t>SB 1123 ministerial — no CEQA, 60-day statutory.</a:t>
            </a:r>
          </a:p>
        </p:txBody>
      </p:sp>
      <p:sp>
        <p:nvSpPr>
          <p:cNvPr id="13" name="Rectangle 12"/>
          <p:cNvSpPr/>
          <p:nvPr/>
        </p:nvSpPr>
        <p:spPr>
          <a:xfrm>
            <a:off x="457200" y="21488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22585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3</a:t>
            </a:r>
          </a:p>
        </p:txBody>
      </p:sp>
      <p:sp>
        <p:nvSpPr>
          <p:cNvPr id="15" name="TextBox 14"/>
          <p:cNvSpPr txBox="1"/>
          <p:nvPr/>
        </p:nvSpPr>
        <p:spPr>
          <a:xfrm>
            <a:off x="1005840" y="2258568"/>
            <a:ext cx="3337560" cy="228600"/>
          </a:xfrm>
          <a:prstGeom prst="rect">
            <a:avLst/>
          </a:prstGeom>
          <a:noFill/>
        </p:spPr>
        <p:txBody>
          <a:bodyPr wrap="square">
            <a:spAutoFit/>
          </a:bodyPr>
          <a:lstStyle/>
          <a:p>
            <a:pPr algn="l"/>
            <a:r>
              <a:rPr sz="1000" b="1">
                <a:solidFill>
                  <a:srgbClr val="1E293B"/>
                </a:solidFill>
                <a:latin typeface="Calibri"/>
              </a:rPr>
              <a:t>Market / Pricing</a:t>
            </a:r>
          </a:p>
        </p:txBody>
      </p:sp>
      <p:sp>
        <p:nvSpPr>
          <p:cNvPr id="16" name="TextBox 15"/>
          <p:cNvSpPr txBox="1"/>
          <p:nvPr/>
        </p:nvSpPr>
        <p:spPr>
          <a:xfrm>
            <a:off x="1005840" y="2514600"/>
            <a:ext cx="3337560" cy="731520"/>
          </a:xfrm>
          <a:prstGeom prst="rect">
            <a:avLst/>
          </a:prstGeom>
          <a:noFill/>
        </p:spPr>
        <p:txBody>
          <a:bodyPr wrap="square">
            <a:spAutoFit/>
          </a:bodyPr>
          <a:lstStyle/>
          <a:p>
            <a:pPr algn="l"/>
            <a:r>
              <a:rPr sz="800" b="0">
                <a:solidFill>
                  <a:srgbClr val="475569"/>
                </a:solidFill>
                <a:latin typeface="Calibri"/>
              </a:rPr>
              <a:t>Break-even at $676/SF. BTR fallback at $36,099/mo.</a:t>
            </a:r>
          </a:p>
        </p:txBody>
      </p:sp>
      <p:sp>
        <p:nvSpPr>
          <p:cNvPr id="17" name="Rectangle 16"/>
          <p:cNvSpPr/>
          <p:nvPr/>
        </p:nvSpPr>
        <p:spPr>
          <a:xfrm>
            <a:off x="4754880" y="21488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937760" y="22585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4</a:t>
            </a:r>
          </a:p>
        </p:txBody>
      </p:sp>
      <p:sp>
        <p:nvSpPr>
          <p:cNvPr id="19" name="TextBox 18"/>
          <p:cNvSpPr txBox="1"/>
          <p:nvPr/>
        </p:nvSpPr>
        <p:spPr>
          <a:xfrm>
            <a:off x="5303520" y="2258568"/>
            <a:ext cx="3337560" cy="228600"/>
          </a:xfrm>
          <a:prstGeom prst="rect">
            <a:avLst/>
          </a:prstGeom>
          <a:noFill/>
        </p:spPr>
        <p:txBody>
          <a:bodyPr wrap="square">
            <a:spAutoFit/>
          </a:bodyPr>
          <a:lstStyle/>
          <a:p>
            <a:pPr algn="l"/>
            <a:r>
              <a:rPr sz="1000" b="1">
                <a:solidFill>
                  <a:srgbClr val="1E293B"/>
                </a:solidFill>
                <a:latin typeface="Calibri"/>
              </a:rPr>
              <a:t>Interest Rate / Carry</a:t>
            </a:r>
          </a:p>
        </p:txBody>
      </p:sp>
      <p:sp>
        <p:nvSpPr>
          <p:cNvPr id="20" name="TextBox 19"/>
          <p:cNvSpPr txBox="1"/>
          <p:nvPr/>
        </p:nvSpPr>
        <p:spPr>
          <a:xfrm>
            <a:off x="5303520" y="2514600"/>
            <a:ext cx="3337560" cy="731520"/>
          </a:xfrm>
          <a:prstGeom prst="rect">
            <a:avLst/>
          </a:prstGeom>
          <a:noFill/>
        </p:spPr>
        <p:txBody>
          <a:bodyPr wrap="square">
            <a:spAutoFit/>
          </a:bodyPr>
          <a:lstStyle/>
          <a:p>
            <a:pPr algn="l"/>
            <a:r>
              <a:rPr sz="800" b="0">
                <a:solidFill>
                  <a:srgbClr val="475569"/>
                </a:solidFill>
                <a:latin typeface="Calibri"/>
              </a:rPr>
              <a:t>PIK (Capitalized) interest at 10.0%. Equity sized to maintain LLC cash ≥ $0.</a:t>
            </a:r>
          </a:p>
        </p:txBody>
      </p:sp>
      <p:sp>
        <p:nvSpPr>
          <p:cNvPr id="21" name="Rectangle 20"/>
          <p:cNvSpPr/>
          <p:nvPr/>
        </p:nvSpPr>
        <p:spPr>
          <a:xfrm>
            <a:off x="457200" y="35204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80" y="36301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5</a:t>
            </a:r>
          </a:p>
        </p:txBody>
      </p:sp>
      <p:sp>
        <p:nvSpPr>
          <p:cNvPr id="23" name="TextBox 22"/>
          <p:cNvSpPr txBox="1"/>
          <p:nvPr/>
        </p:nvSpPr>
        <p:spPr>
          <a:xfrm>
            <a:off x="1005840" y="3630168"/>
            <a:ext cx="3337560" cy="228600"/>
          </a:xfrm>
          <a:prstGeom prst="rect">
            <a:avLst/>
          </a:prstGeom>
          <a:noFill/>
        </p:spPr>
        <p:txBody>
          <a:bodyPr wrap="square">
            <a:spAutoFit/>
          </a:bodyPr>
          <a:lstStyle/>
          <a:p>
            <a:pPr algn="l"/>
            <a:r>
              <a:rPr sz="1000" b="1">
                <a:solidFill>
                  <a:srgbClr val="1E293B"/>
                </a:solidFill>
                <a:latin typeface="Calibri"/>
              </a:rPr>
              <a:t>Construction Timeline</a:t>
            </a:r>
          </a:p>
        </p:txBody>
      </p:sp>
      <p:sp>
        <p:nvSpPr>
          <p:cNvPr id="24" name="TextBox 23"/>
          <p:cNvSpPr txBox="1"/>
          <p:nvPr/>
        </p:nvSpPr>
        <p:spPr>
          <a:xfrm>
            <a:off x="1005840" y="3886200"/>
            <a:ext cx="3337560" cy="731520"/>
          </a:xfrm>
          <a:prstGeom prst="rect">
            <a:avLst/>
          </a:prstGeom>
          <a:noFill/>
        </p:spPr>
        <p:txBody>
          <a:bodyPr wrap="square">
            <a:spAutoFit/>
          </a:bodyPr>
          <a:lstStyle/>
          <a:p>
            <a:pPr algn="l"/>
            <a:r>
              <a:rPr sz="800" b="0">
                <a:solidFill>
                  <a:srgbClr val="475569"/>
                </a:solidFill>
                <a:latin typeface="Calibri"/>
              </a:rPr>
              <a:t>Type V wood-frame. Both principals have direct oversight.</a:t>
            </a:r>
          </a:p>
        </p:txBody>
      </p:sp>
      <p:sp>
        <p:nvSpPr>
          <p:cNvPr id="25" name="Rectangle 24"/>
          <p:cNvSpPr/>
          <p:nvPr/>
        </p:nvSpPr>
        <p:spPr>
          <a:xfrm>
            <a:off x="4754880" y="3520440"/>
            <a:ext cx="4023360" cy="11887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937760" y="3630168"/>
            <a:ext cx="274320" cy="2743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6</a:t>
            </a:r>
          </a:p>
        </p:txBody>
      </p:sp>
      <p:sp>
        <p:nvSpPr>
          <p:cNvPr id="27" name="TextBox 26"/>
          <p:cNvSpPr txBox="1"/>
          <p:nvPr/>
        </p:nvSpPr>
        <p:spPr>
          <a:xfrm>
            <a:off x="5303520" y="3630168"/>
            <a:ext cx="3337560" cy="228600"/>
          </a:xfrm>
          <a:prstGeom prst="rect">
            <a:avLst/>
          </a:prstGeom>
          <a:noFill/>
        </p:spPr>
        <p:txBody>
          <a:bodyPr wrap="square">
            <a:spAutoFit/>
          </a:bodyPr>
          <a:lstStyle/>
          <a:p>
            <a:pPr algn="l"/>
            <a:r>
              <a:rPr sz="1000" b="1">
                <a:solidFill>
                  <a:srgbClr val="1E293B"/>
                </a:solidFill>
                <a:latin typeface="Calibri"/>
              </a:rPr>
              <a:t>Liquidity</a:t>
            </a:r>
          </a:p>
        </p:txBody>
      </p:sp>
      <p:sp>
        <p:nvSpPr>
          <p:cNvPr id="28" name="TextBox 27"/>
          <p:cNvSpPr txBox="1"/>
          <p:nvPr/>
        </p:nvSpPr>
        <p:spPr>
          <a:xfrm>
            <a:off x="5303520" y="3886200"/>
            <a:ext cx="3337560" cy="731520"/>
          </a:xfrm>
          <a:prstGeom prst="rect">
            <a:avLst/>
          </a:prstGeom>
          <a:noFill/>
        </p:spPr>
        <p:txBody>
          <a:bodyPr wrap="square">
            <a:spAutoFit/>
          </a:bodyPr>
          <a:lstStyle/>
          <a:p>
            <a:pPr algn="l"/>
            <a:r>
              <a:rPr sz="800" b="0">
                <a:solidFill>
                  <a:srgbClr val="475569"/>
                </a:solidFill>
                <a:latin typeface="Calibri"/>
              </a:rPr>
              <a:t>Illiquid, ~24-month commitment. BTR provides income fallback.</a:t>
            </a:r>
          </a:p>
        </p:txBody>
      </p:sp>
      <p:sp>
        <p:nvSpPr>
          <p:cNvPr id="29" name="TextBox 28"/>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457200"/>
          </a:xfrm>
          <a:prstGeom prst="rect">
            <a:avLst/>
          </a:prstGeom>
          <a:noFill/>
        </p:spPr>
        <p:txBody>
          <a:bodyPr wrap="square">
            <a:spAutoFit/>
          </a:bodyPr>
          <a:lstStyle/>
          <a:p>
            <a:r>
              <a:rPr sz="1700" b="1">
                <a:solidFill>
                  <a:srgbClr val="FFFFFF"/>
                </a:solidFill>
                <a:latin typeface="Georgia"/>
              </a:rPr>
              <a:t>Project Timeline</a:t>
            </a:r>
          </a:p>
        </p:txBody>
      </p:sp>
      <p:sp>
        <p:nvSpPr>
          <p:cNvPr id="5" name="Rectangle 4"/>
          <p:cNvSpPr/>
          <p:nvPr/>
        </p:nvSpPr>
        <p:spPr>
          <a:xfrm>
            <a:off x="2560320" y="868680"/>
            <a:ext cx="4572" cy="36576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23160" y="667512"/>
            <a:ext cx="320040" cy="182880"/>
          </a:xfrm>
          <a:prstGeom prst="rect">
            <a:avLst/>
          </a:prstGeom>
          <a:noFill/>
        </p:spPr>
        <p:txBody>
          <a:bodyPr wrap="square">
            <a:spAutoFit/>
          </a:bodyPr>
          <a:lstStyle/>
          <a:p>
            <a:pPr algn="ctr"/>
            <a:r>
              <a:rPr sz="700" b="0">
                <a:solidFill>
                  <a:srgbClr val="94A3B8"/>
                </a:solidFill>
                <a:latin typeface="Calibri"/>
              </a:rPr>
              <a:t>M0</a:t>
            </a:r>
          </a:p>
        </p:txBody>
      </p:sp>
      <p:sp>
        <p:nvSpPr>
          <p:cNvPr id="7" name="Rectangle 6"/>
          <p:cNvSpPr/>
          <p:nvPr/>
        </p:nvSpPr>
        <p:spPr>
          <a:xfrm>
            <a:off x="3267221" y="868680"/>
            <a:ext cx="4572" cy="36576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30061" y="667512"/>
            <a:ext cx="320040" cy="182880"/>
          </a:xfrm>
          <a:prstGeom prst="rect">
            <a:avLst/>
          </a:prstGeom>
          <a:noFill/>
        </p:spPr>
        <p:txBody>
          <a:bodyPr wrap="square">
            <a:spAutoFit/>
          </a:bodyPr>
          <a:lstStyle/>
          <a:p>
            <a:pPr algn="ctr"/>
            <a:r>
              <a:rPr sz="700" b="0">
                <a:solidFill>
                  <a:srgbClr val="94A3B8"/>
                </a:solidFill>
                <a:latin typeface="Calibri"/>
              </a:rPr>
              <a:t>M3</a:t>
            </a:r>
          </a:p>
        </p:txBody>
      </p:sp>
      <p:sp>
        <p:nvSpPr>
          <p:cNvPr id="9" name="Rectangle 8"/>
          <p:cNvSpPr/>
          <p:nvPr/>
        </p:nvSpPr>
        <p:spPr>
          <a:xfrm>
            <a:off x="3974123" y="868680"/>
            <a:ext cx="4572" cy="36576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36963" y="667512"/>
            <a:ext cx="320040" cy="182880"/>
          </a:xfrm>
          <a:prstGeom prst="rect">
            <a:avLst/>
          </a:prstGeom>
          <a:noFill/>
        </p:spPr>
        <p:txBody>
          <a:bodyPr wrap="square">
            <a:spAutoFit/>
          </a:bodyPr>
          <a:lstStyle/>
          <a:p>
            <a:pPr algn="ctr"/>
            <a:r>
              <a:rPr sz="700" b="0">
                <a:solidFill>
                  <a:srgbClr val="94A3B8"/>
                </a:solidFill>
                <a:latin typeface="Calibri"/>
              </a:rPr>
              <a:t>M6</a:t>
            </a:r>
          </a:p>
        </p:txBody>
      </p:sp>
      <p:sp>
        <p:nvSpPr>
          <p:cNvPr id="11" name="Rectangle 10"/>
          <p:cNvSpPr/>
          <p:nvPr/>
        </p:nvSpPr>
        <p:spPr>
          <a:xfrm>
            <a:off x="4681024" y="868680"/>
            <a:ext cx="4572" cy="36576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3864" y="667512"/>
            <a:ext cx="320040" cy="182880"/>
          </a:xfrm>
          <a:prstGeom prst="rect">
            <a:avLst/>
          </a:prstGeom>
          <a:noFill/>
        </p:spPr>
        <p:txBody>
          <a:bodyPr wrap="square">
            <a:spAutoFit/>
          </a:bodyPr>
          <a:lstStyle/>
          <a:p>
            <a:pPr algn="ctr"/>
            <a:r>
              <a:rPr sz="700" b="0">
                <a:solidFill>
                  <a:srgbClr val="94A3B8"/>
                </a:solidFill>
                <a:latin typeface="Calibri"/>
              </a:rPr>
              <a:t>M9</a:t>
            </a:r>
          </a:p>
        </p:txBody>
      </p:sp>
      <p:sp>
        <p:nvSpPr>
          <p:cNvPr id="13" name="Rectangle 12"/>
          <p:cNvSpPr/>
          <p:nvPr/>
        </p:nvSpPr>
        <p:spPr>
          <a:xfrm>
            <a:off x="5387926" y="868680"/>
            <a:ext cx="4572" cy="36576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0766" y="667512"/>
            <a:ext cx="320040" cy="182880"/>
          </a:xfrm>
          <a:prstGeom prst="rect">
            <a:avLst/>
          </a:prstGeom>
          <a:noFill/>
        </p:spPr>
        <p:txBody>
          <a:bodyPr wrap="square">
            <a:spAutoFit/>
          </a:bodyPr>
          <a:lstStyle/>
          <a:p>
            <a:pPr algn="ctr"/>
            <a:r>
              <a:rPr sz="700" b="0">
                <a:solidFill>
                  <a:srgbClr val="94A3B8"/>
                </a:solidFill>
                <a:latin typeface="Calibri"/>
              </a:rPr>
              <a:t>M12</a:t>
            </a:r>
          </a:p>
        </p:txBody>
      </p:sp>
      <p:sp>
        <p:nvSpPr>
          <p:cNvPr id="15" name="Rectangle 14"/>
          <p:cNvSpPr/>
          <p:nvPr/>
        </p:nvSpPr>
        <p:spPr>
          <a:xfrm>
            <a:off x="6094827" y="868680"/>
            <a:ext cx="4572" cy="36576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57667" y="667512"/>
            <a:ext cx="320040" cy="182880"/>
          </a:xfrm>
          <a:prstGeom prst="rect">
            <a:avLst/>
          </a:prstGeom>
          <a:noFill/>
        </p:spPr>
        <p:txBody>
          <a:bodyPr wrap="square">
            <a:spAutoFit/>
          </a:bodyPr>
          <a:lstStyle/>
          <a:p>
            <a:pPr algn="ctr"/>
            <a:r>
              <a:rPr sz="700" b="0">
                <a:solidFill>
                  <a:srgbClr val="94A3B8"/>
                </a:solidFill>
                <a:latin typeface="Calibri"/>
              </a:rPr>
              <a:t>M15</a:t>
            </a:r>
          </a:p>
        </p:txBody>
      </p:sp>
      <p:sp>
        <p:nvSpPr>
          <p:cNvPr id="17" name="Rectangle 16"/>
          <p:cNvSpPr/>
          <p:nvPr/>
        </p:nvSpPr>
        <p:spPr>
          <a:xfrm>
            <a:off x="6801729" y="868680"/>
            <a:ext cx="4572" cy="36576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64569" y="667512"/>
            <a:ext cx="320040" cy="182880"/>
          </a:xfrm>
          <a:prstGeom prst="rect">
            <a:avLst/>
          </a:prstGeom>
          <a:noFill/>
        </p:spPr>
        <p:txBody>
          <a:bodyPr wrap="square">
            <a:spAutoFit/>
          </a:bodyPr>
          <a:lstStyle/>
          <a:p>
            <a:pPr algn="ctr"/>
            <a:r>
              <a:rPr sz="700" b="0">
                <a:solidFill>
                  <a:srgbClr val="94A3B8"/>
                </a:solidFill>
                <a:latin typeface="Calibri"/>
              </a:rPr>
              <a:t>M18</a:t>
            </a:r>
          </a:p>
        </p:txBody>
      </p:sp>
      <p:sp>
        <p:nvSpPr>
          <p:cNvPr id="19" name="Rectangle 18"/>
          <p:cNvSpPr/>
          <p:nvPr/>
        </p:nvSpPr>
        <p:spPr>
          <a:xfrm>
            <a:off x="7508630" y="868680"/>
            <a:ext cx="4572" cy="36576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71470" y="667512"/>
            <a:ext cx="320040" cy="182880"/>
          </a:xfrm>
          <a:prstGeom prst="rect">
            <a:avLst/>
          </a:prstGeom>
          <a:noFill/>
        </p:spPr>
        <p:txBody>
          <a:bodyPr wrap="square">
            <a:spAutoFit/>
          </a:bodyPr>
          <a:lstStyle/>
          <a:p>
            <a:pPr algn="ctr"/>
            <a:r>
              <a:rPr sz="700" b="0">
                <a:solidFill>
                  <a:srgbClr val="94A3B8"/>
                </a:solidFill>
                <a:latin typeface="Calibri"/>
              </a:rPr>
              <a:t>M21</a:t>
            </a:r>
          </a:p>
        </p:txBody>
      </p:sp>
      <p:sp>
        <p:nvSpPr>
          <p:cNvPr id="21" name="Rectangle 20"/>
          <p:cNvSpPr/>
          <p:nvPr/>
        </p:nvSpPr>
        <p:spPr>
          <a:xfrm>
            <a:off x="8215532" y="868680"/>
            <a:ext cx="4572" cy="36576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78372" y="667512"/>
            <a:ext cx="320040" cy="182880"/>
          </a:xfrm>
          <a:prstGeom prst="rect">
            <a:avLst/>
          </a:prstGeom>
          <a:noFill/>
        </p:spPr>
        <p:txBody>
          <a:bodyPr wrap="square">
            <a:spAutoFit/>
          </a:bodyPr>
          <a:lstStyle/>
          <a:p>
            <a:pPr algn="ctr"/>
            <a:r>
              <a:rPr sz="700" b="0">
                <a:solidFill>
                  <a:srgbClr val="94A3B8"/>
                </a:solidFill>
                <a:latin typeface="Calibri"/>
              </a:rPr>
              <a:t>M24</a:t>
            </a:r>
          </a:p>
        </p:txBody>
      </p:sp>
      <p:sp>
        <p:nvSpPr>
          <p:cNvPr id="23" name="Rectangle 22"/>
          <p:cNvSpPr/>
          <p:nvPr/>
        </p:nvSpPr>
        <p:spPr>
          <a:xfrm>
            <a:off x="274320" y="868680"/>
            <a:ext cx="859536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960120"/>
            <a:ext cx="2103120" cy="274320"/>
          </a:xfrm>
          <a:prstGeom prst="rect">
            <a:avLst/>
          </a:prstGeom>
          <a:noFill/>
        </p:spPr>
        <p:txBody>
          <a:bodyPr wrap="square">
            <a:spAutoFit/>
          </a:bodyPr>
          <a:lstStyle/>
          <a:p>
            <a:pPr algn="l"/>
            <a:r>
              <a:rPr sz="800" b="0">
                <a:solidFill>
                  <a:srgbClr val="334155"/>
                </a:solidFill>
                <a:latin typeface="Calibri"/>
              </a:rPr>
              <a:t>Acquisition &amp; Close</a:t>
            </a:r>
          </a:p>
        </p:txBody>
      </p:sp>
      <p:sp>
        <p:nvSpPr>
          <p:cNvPr id="25" name="Rounded Rectangle 24"/>
          <p:cNvSpPr/>
          <p:nvPr/>
        </p:nvSpPr>
        <p:spPr>
          <a:xfrm>
            <a:off x="2560320" y="960120"/>
            <a:ext cx="471267" cy="2286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1417320"/>
            <a:ext cx="2103120" cy="274320"/>
          </a:xfrm>
          <a:prstGeom prst="rect">
            <a:avLst/>
          </a:prstGeom>
          <a:noFill/>
        </p:spPr>
        <p:txBody>
          <a:bodyPr wrap="square">
            <a:spAutoFit/>
          </a:bodyPr>
          <a:lstStyle/>
          <a:p>
            <a:pPr algn="l"/>
            <a:r>
              <a:rPr sz="800" b="0">
                <a:solidFill>
                  <a:srgbClr val="334155"/>
                </a:solidFill>
                <a:latin typeface="Calibri"/>
              </a:rPr>
              <a:t>Pre-Dev (Demo/Subdiv/A&amp;E)</a:t>
            </a:r>
          </a:p>
        </p:txBody>
      </p:sp>
      <p:sp>
        <p:nvSpPr>
          <p:cNvPr id="27" name="Rounded Rectangle 26"/>
          <p:cNvSpPr/>
          <p:nvPr/>
        </p:nvSpPr>
        <p:spPr>
          <a:xfrm>
            <a:off x="2795953" y="1417320"/>
            <a:ext cx="1178169" cy="2286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 y="1783080"/>
            <a:ext cx="859536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1874520"/>
            <a:ext cx="2103120" cy="274320"/>
          </a:xfrm>
          <a:prstGeom prst="rect">
            <a:avLst/>
          </a:prstGeom>
          <a:noFill/>
        </p:spPr>
        <p:txBody>
          <a:bodyPr wrap="square">
            <a:spAutoFit/>
          </a:bodyPr>
          <a:lstStyle/>
          <a:p>
            <a:pPr algn="l"/>
            <a:r>
              <a:rPr sz="800" b="0">
                <a:solidFill>
                  <a:srgbClr val="334155"/>
                </a:solidFill>
                <a:latin typeface="Calibri"/>
              </a:rPr>
              <a:t>Subdivision Map &amp; Approval</a:t>
            </a:r>
          </a:p>
        </p:txBody>
      </p:sp>
      <p:sp>
        <p:nvSpPr>
          <p:cNvPr id="30" name="Rounded Rectangle 29"/>
          <p:cNvSpPr/>
          <p:nvPr/>
        </p:nvSpPr>
        <p:spPr>
          <a:xfrm>
            <a:off x="3031587" y="1874520"/>
            <a:ext cx="3770141" cy="2286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2331720"/>
            <a:ext cx="2103120" cy="274320"/>
          </a:xfrm>
          <a:prstGeom prst="rect">
            <a:avLst/>
          </a:prstGeom>
          <a:noFill/>
        </p:spPr>
        <p:txBody>
          <a:bodyPr wrap="square">
            <a:spAutoFit/>
          </a:bodyPr>
          <a:lstStyle/>
          <a:p>
            <a:pPr algn="l"/>
            <a:r>
              <a:rPr sz="800" b="0">
                <a:solidFill>
                  <a:srgbClr val="334155"/>
                </a:solidFill>
                <a:latin typeface="Calibri"/>
              </a:rPr>
              <a:t>Permitting</a:t>
            </a:r>
          </a:p>
        </p:txBody>
      </p:sp>
      <p:sp>
        <p:nvSpPr>
          <p:cNvPr id="32" name="Rounded Rectangle 31"/>
          <p:cNvSpPr/>
          <p:nvPr/>
        </p:nvSpPr>
        <p:spPr>
          <a:xfrm>
            <a:off x="3031587" y="2331720"/>
            <a:ext cx="942535" cy="228600"/>
          </a:xfrm>
          <a:prstGeom prst="roundRect">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 y="2697480"/>
            <a:ext cx="859536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040" y="2788920"/>
            <a:ext cx="2103120" cy="274320"/>
          </a:xfrm>
          <a:prstGeom prst="rect">
            <a:avLst/>
          </a:prstGeom>
          <a:noFill/>
        </p:spPr>
        <p:txBody>
          <a:bodyPr wrap="square">
            <a:spAutoFit/>
          </a:bodyPr>
          <a:lstStyle/>
          <a:p>
            <a:pPr algn="l"/>
            <a:r>
              <a:rPr sz="800" b="0">
                <a:solidFill>
                  <a:srgbClr val="334155"/>
                </a:solidFill>
                <a:latin typeface="Calibri"/>
              </a:rPr>
              <a:t>Site Work</a:t>
            </a:r>
          </a:p>
        </p:txBody>
      </p:sp>
      <p:sp>
        <p:nvSpPr>
          <p:cNvPr id="35" name="Rounded Rectangle 34"/>
          <p:cNvSpPr/>
          <p:nvPr/>
        </p:nvSpPr>
        <p:spPr>
          <a:xfrm>
            <a:off x="3738489" y="2788920"/>
            <a:ext cx="706901" cy="228600"/>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0040" y="3246120"/>
            <a:ext cx="2103120" cy="274320"/>
          </a:xfrm>
          <a:prstGeom prst="rect">
            <a:avLst/>
          </a:prstGeom>
          <a:noFill/>
        </p:spPr>
        <p:txBody>
          <a:bodyPr wrap="square">
            <a:spAutoFit/>
          </a:bodyPr>
          <a:lstStyle/>
          <a:p>
            <a:pPr algn="l"/>
            <a:r>
              <a:rPr sz="800" b="0">
                <a:solidFill>
                  <a:srgbClr val="334155"/>
                </a:solidFill>
                <a:latin typeface="Calibri"/>
              </a:rPr>
              <a:t>Vertical Construction</a:t>
            </a:r>
          </a:p>
        </p:txBody>
      </p:sp>
      <p:sp>
        <p:nvSpPr>
          <p:cNvPr id="37" name="Rounded Rectangle 36"/>
          <p:cNvSpPr/>
          <p:nvPr/>
        </p:nvSpPr>
        <p:spPr>
          <a:xfrm>
            <a:off x="3974123" y="3246120"/>
            <a:ext cx="2827606" cy="228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74320" y="3611880"/>
            <a:ext cx="859536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0040" y="3703320"/>
            <a:ext cx="2103120" cy="274320"/>
          </a:xfrm>
          <a:prstGeom prst="rect">
            <a:avLst/>
          </a:prstGeom>
          <a:noFill/>
        </p:spPr>
        <p:txBody>
          <a:bodyPr wrap="square">
            <a:spAutoFit/>
          </a:bodyPr>
          <a:lstStyle/>
          <a:p>
            <a:pPr algn="l"/>
            <a:r>
              <a:rPr sz="800" b="0">
                <a:solidFill>
                  <a:srgbClr val="334155"/>
                </a:solidFill>
                <a:latin typeface="Calibri"/>
              </a:rPr>
              <a:t>Sales &amp; Marketing</a:t>
            </a:r>
          </a:p>
        </p:txBody>
      </p:sp>
      <p:sp>
        <p:nvSpPr>
          <p:cNvPr id="40" name="Rounded Rectangle 39"/>
          <p:cNvSpPr/>
          <p:nvPr/>
        </p:nvSpPr>
        <p:spPr>
          <a:xfrm>
            <a:off x="6330461" y="3703320"/>
            <a:ext cx="1413803" cy="2286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040" y="4160520"/>
            <a:ext cx="2103120" cy="274320"/>
          </a:xfrm>
          <a:prstGeom prst="rect">
            <a:avLst/>
          </a:prstGeom>
          <a:noFill/>
        </p:spPr>
        <p:txBody>
          <a:bodyPr wrap="square">
            <a:spAutoFit/>
          </a:bodyPr>
          <a:lstStyle/>
          <a:p>
            <a:pPr algn="l"/>
            <a:r>
              <a:rPr sz="800" b="0">
                <a:solidFill>
                  <a:srgbClr val="334155"/>
                </a:solidFill>
                <a:latin typeface="Calibri"/>
              </a:rPr>
              <a:t>Final Sales</a:t>
            </a:r>
          </a:p>
        </p:txBody>
      </p:sp>
      <p:sp>
        <p:nvSpPr>
          <p:cNvPr id="42" name="Rounded Rectangle 41"/>
          <p:cNvSpPr/>
          <p:nvPr/>
        </p:nvSpPr>
        <p:spPr>
          <a:xfrm>
            <a:off x="7272996" y="4160520"/>
            <a:ext cx="942535" cy="2286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828032"/>
            <a:ext cx="4572000" cy="228600"/>
          </a:xfrm>
          <a:prstGeom prst="rect">
            <a:avLst/>
          </a:prstGeom>
          <a:noFill/>
        </p:spPr>
        <p:txBody>
          <a:bodyPr wrap="square">
            <a:spAutoFit/>
          </a:bodyPr>
          <a:lstStyle/>
          <a:p>
            <a:pPr algn="l"/>
            <a:r>
              <a:rPr sz="700" b="0">
                <a:solidFill>
                  <a:srgbClr val="94A3B8"/>
                </a:solidFill>
                <a:latin typeface="Calibri"/>
              </a:rPr>
              <a:t>CONFIDENTIAL  |  Lucid Development, LLC  |  February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0"/>
            <a:ext cx="91440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0" y="731520"/>
            <a:ext cx="27432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914400"/>
            <a:ext cx="7315200" cy="457200"/>
          </a:xfrm>
          <a:prstGeom prst="rect">
            <a:avLst/>
          </a:prstGeom>
          <a:noFill/>
        </p:spPr>
        <p:txBody>
          <a:bodyPr wrap="square">
            <a:spAutoFit/>
          </a:bodyPr>
          <a:lstStyle/>
          <a:p>
            <a:pPr algn="ctr"/>
            <a:r>
              <a:rPr sz="2800" b="1">
                <a:solidFill>
                  <a:srgbClr val="1E293B"/>
                </a:solidFill>
                <a:latin typeface="Georgia"/>
              </a:rPr>
              <a:t>Investment Opportunity</a:t>
            </a:r>
          </a:p>
        </p:txBody>
      </p:sp>
      <p:sp>
        <p:nvSpPr>
          <p:cNvPr id="6" name="TextBox 5"/>
          <p:cNvSpPr txBox="1"/>
          <p:nvPr/>
        </p:nvSpPr>
        <p:spPr>
          <a:xfrm>
            <a:off x="914400" y="1417320"/>
            <a:ext cx="7315200" cy="274320"/>
          </a:xfrm>
          <a:prstGeom prst="rect">
            <a:avLst/>
          </a:prstGeom>
          <a:noFill/>
        </p:spPr>
        <p:txBody>
          <a:bodyPr wrap="square">
            <a:spAutoFit/>
          </a:bodyPr>
          <a:lstStyle/>
          <a:p>
            <a:pPr algn="ctr"/>
            <a:r>
              <a:rPr sz="1200" b="0">
                <a:solidFill>
                  <a:srgbClr val="64748B"/>
                </a:solidFill>
                <a:latin typeface="Calibri"/>
              </a:rPr>
              <a:t>823 N Orange Grove Blvd  |  , CA</a:t>
            </a:r>
          </a:p>
        </p:txBody>
      </p:sp>
      <p:sp>
        <p:nvSpPr>
          <p:cNvPr id="7" name="Rectangle 6"/>
          <p:cNvSpPr/>
          <p:nvPr/>
        </p:nvSpPr>
        <p:spPr>
          <a:xfrm>
            <a:off x="1051560" y="2011680"/>
            <a:ext cx="4572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2011680"/>
            <a:ext cx="1463040" cy="365760"/>
          </a:xfrm>
          <a:prstGeom prst="rect">
            <a:avLst/>
          </a:prstGeom>
          <a:noFill/>
        </p:spPr>
        <p:txBody>
          <a:bodyPr wrap="square">
            <a:spAutoFit/>
          </a:bodyPr>
          <a:lstStyle/>
          <a:p>
            <a:pPr algn="l"/>
            <a:r>
              <a:rPr sz="2200" b="1">
                <a:solidFill>
                  <a:srgbClr val="1E293B"/>
                </a:solidFill>
                <a:latin typeface="Calibri"/>
              </a:rPr>
              <a:t>$2.5M</a:t>
            </a:r>
          </a:p>
        </p:txBody>
      </p:sp>
      <p:sp>
        <p:nvSpPr>
          <p:cNvPr id="9" name="TextBox 8"/>
          <p:cNvSpPr txBox="1"/>
          <p:nvPr/>
        </p:nvSpPr>
        <p:spPr>
          <a:xfrm>
            <a:off x="1234440" y="2377440"/>
            <a:ext cx="1463040" cy="228600"/>
          </a:xfrm>
          <a:prstGeom prst="rect">
            <a:avLst/>
          </a:prstGeom>
          <a:noFill/>
        </p:spPr>
        <p:txBody>
          <a:bodyPr wrap="square">
            <a:spAutoFit/>
          </a:bodyPr>
          <a:lstStyle/>
          <a:p>
            <a:pPr algn="l"/>
            <a:r>
              <a:rPr sz="800" b="0">
                <a:solidFill>
                  <a:srgbClr val="64748B"/>
                </a:solidFill>
                <a:latin typeface="Calibri"/>
              </a:rPr>
              <a:t>Target Equity</a:t>
            </a:r>
          </a:p>
        </p:txBody>
      </p:sp>
      <p:sp>
        <p:nvSpPr>
          <p:cNvPr id="10" name="Rectangle 9"/>
          <p:cNvSpPr/>
          <p:nvPr/>
        </p:nvSpPr>
        <p:spPr>
          <a:xfrm>
            <a:off x="3154679" y="2011680"/>
            <a:ext cx="4572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59" y="2011680"/>
            <a:ext cx="1463040" cy="365760"/>
          </a:xfrm>
          <a:prstGeom prst="rect">
            <a:avLst/>
          </a:prstGeom>
          <a:noFill/>
        </p:spPr>
        <p:txBody>
          <a:bodyPr wrap="square">
            <a:spAutoFit/>
          </a:bodyPr>
          <a:lstStyle/>
          <a:p>
            <a:pPr algn="l"/>
            <a:r>
              <a:rPr sz="2200" b="1">
                <a:solidFill>
                  <a:srgbClr val="1E293B"/>
                </a:solidFill>
                <a:latin typeface="Calibri"/>
              </a:rPr>
              <a:t>3.10x</a:t>
            </a:r>
          </a:p>
        </p:txBody>
      </p:sp>
      <p:sp>
        <p:nvSpPr>
          <p:cNvPr id="12" name="TextBox 11"/>
          <p:cNvSpPr txBox="1"/>
          <p:nvPr/>
        </p:nvSpPr>
        <p:spPr>
          <a:xfrm>
            <a:off x="3337559" y="2377440"/>
            <a:ext cx="1463040" cy="228600"/>
          </a:xfrm>
          <a:prstGeom prst="rect">
            <a:avLst/>
          </a:prstGeom>
          <a:noFill/>
        </p:spPr>
        <p:txBody>
          <a:bodyPr wrap="square">
            <a:spAutoFit/>
          </a:bodyPr>
          <a:lstStyle/>
          <a:p>
            <a:pPr algn="l"/>
            <a:r>
              <a:rPr sz="800" b="0">
                <a:solidFill>
                  <a:srgbClr val="64748B"/>
                </a:solidFill>
                <a:latin typeface="Calibri"/>
              </a:rPr>
              <a:t>Target MOIC</a:t>
            </a:r>
          </a:p>
        </p:txBody>
      </p:sp>
      <p:sp>
        <p:nvSpPr>
          <p:cNvPr id="13" name="Rectangle 12"/>
          <p:cNvSpPr/>
          <p:nvPr/>
        </p:nvSpPr>
        <p:spPr>
          <a:xfrm>
            <a:off x="5257799" y="2011680"/>
            <a:ext cx="4572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79" y="2011680"/>
            <a:ext cx="1463040" cy="365760"/>
          </a:xfrm>
          <a:prstGeom prst="rect">
            <a:avLst/>
          </a:prstGeom>
          <a:noFill/>
        </p:spPr>
        <p:txBody>
          <a:bodyPr wrap="square">
            <a:spAutoFit/>
          </a:bodyPr>
          <a:lstStyle/>
          <a:p>
            <a:pPr algn="l"/>
            <a:r>
              <a:rPr sz="2200" b="1">
                <a:solidFill>
                  <a:srgbClr val="1E293B"/>
                </a:solidFill>
                <a:latin typeface="Calibri"/>
              </a:rPr>
              <a:t>76.0%</a:t>
            </a:r>
          </a:p>
        </p:txBody>
      </p:sp>
      <p:sp>
        <p:nvSpPr>
          <p:cNvPr id="15" name="TextBox 14"/>
          <p:cNvSpPr txBox="1"/>
          <p:nvPr/>
        </p:nvSpPr>
        <p:spPr>
          <a:xfrm>
            <a:off x="5440679" y="2377440"/>
            <a:ext cx="1463040" cy="228600"/>
          </a:xfrm>
          <a:prstGeom prst="rect">
            <a:avLst/>
          </a:prstGeom>
          <a:noFill/>
        </p:spPr>
        <p:txBody>
          <a:bodyPr wrap="square">
            <a:spAutoFit/>
          </a:bodyPr>
          <a:lstStyle/>
          <a:p>
            <a:pPr algn="l"/>
            <a:r>
              <a:rPr sz="800" b="0">
                <a:solidFill>
                  <a:srgbClr val="64748B"/>
                </a:solidFill>
                <a:latin typeface="Calibri"/>
              </a:rPr>
              <a:t>Target IRR</a:t>
            </a:r>
          </a:p>
        </p:txBody>
      </p:sp>
      <p:sp>
        <p:nvSpPr>
          <p:cNvPr id="16" name="Rectangle 15"/>
          <p:cNvSpPr/>
          <p:nvPr/>
        </p:nvSpPr>
        <p:spPr>
          <a:xfrm>
            <a:off x="7360919" y="2011680"/>
            <a:ext cx="4572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3799" y="2011680"/>
            <a:ext cx="1463040" cy="365760"/>
          </a:xfrm>
          <a:prstGeom prst="rect">
            <a:avLst/>
          </a:prstGeom>
          <a:noFill/>
        </p:spPr>
        <p:txBody>
          <a:bodyPr wrap="square">
            <a:spAutoFit/>
          </a:bodyPr>
          <a:lstStyle/>
          <a:p>
            <a:pPr algn="l"/>
            <a:r>
              <a:rPr sz="2200" b="1">
                <a:solidFill>
                  <a:srgbClr val="1E293B"/>
                </a:solidFill>
                <a:latin typeface="Calibri"/>
              </a:rPr>
              <a:t>~24 mo.</a:t>
            </a:r>
          </a:p>
        </p:txBody>
      </p:sp>
      <p:sp>
        <p:nvSpPr>
          <p:cNvPr id="18" name="TextBox 17"/>
          <p:cNvSpPr txBox="1"/>
          <p:nvPr/>
        </p:nvSpPr>
        <p:spPr>
          <a:xfrm>
            <a:off x="7543799" y="2377440"/>
            <a:ext cx="1463040" cy="228600"/>
          </a:xfrm>
          <a:prstGeom prst="rect">
            <a:avLst/>
          </a:prstGeom>
          <a:noFill/>
        </p:spPr>
        <p:txBody>
          <a:bodyPr wrap="square">
            <a:spAutoFit/>
          </a:bodyPr>
          <a:lstStyle/>
          <a:p>
            <a:pPr algn="l"/>
            <a:r>
              <a:rPr sz="800" b="0">
                <a:solidFill>
                  <a:srgbClr val="64748B"/>
                </a:solidFill>
                <a:latin typeface="Calibri"/>
              </a:rPr>
              <a:t>Target Hold</a:t>
            </a:r>
          </a:p>
        </p:txBody>
      </p:sp>
      <p:sp>
        <p:nvSpPr>
          <p:cNvPr id="19" name="Rectangle 18"/>
          <p:cNvSpPr/>
          <p:nvPr/>
        </p:nvSpPr>
        <p:spPr>
          <a:xfrm>
            <a:off x="2743200" y="3474720"/>
            <a:ext cx="3657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657600"/>
            <a:ext cx="7315200" cy="228600"/>
          </a:xfrm>
          <a:prstGeom prst="rect">
            <a:avLst/>
          </a:prstGeom>
          <a:noFill/>
        </p:spPr>
        <p:txBody>
          <a:bodyPr wrap="square">
            <a:spAutoFit/>
          </a:bodyPr>
          <a:lstStyle/>
          <a:p>
            <a:pPr algn="ctr"/>
            <a:r>
              <a:rPr sz="1000" b="0">
                <a:solidFill>
                  <a:srgbClr val="1E293B"/>
                </a:solidFill>
                <a:latin typeface="Calibri"/>
              </a:rPr>
              <a:t>Matt Lucido  |  matt@yardsworth.com</a:t>
            </a:r>
          </a:p>
        </p:txBody>
      </p:sp>
      <p:sp>
        <p:nvSpPr>
          <p:cNvPr id="21" name="TextBox 20"/>
          <p:cNvSpPr txBox="1"/>
          <p:nvPr/>
        </p:nvSpPr>
        <p:spPr>
          <a:xfrm>
            <a:off x="914400" y="3886200"/>
            <a:ext cx="7315200" cy="228600"/>
          </a:xfrm>
          <a:prstGeom prst="rect">
            <a:avLst/>
          </a:prstGeom>
          <a:noFill/>
        </p:spPr>
        <p:txBody>
          <a:bodyPr wrap="square">
            <a:spAutoFit/>
          </a:bodyPr>
          <a:lstStyle/>
          <a:p>
            <a:pPr algn="ctr"/>
            <a:r>
              <a:rPr sz="1000" b="0">
                <a:solidFill>
                  <a:srgbClr val="1E293B"/>
                </a:solidFill>
                <a:latin typeface="Calibri"/>
              </a:rPr>
              <a:t>Joe Salerno  |  joe@yardsworth.com</a:t>
            </a:r>
          </a:p>
        </p:txBody>
      </p:sp>
      <p:sp>
        <p:nvSpPr>
          <p:cNvPr id="22" name="TextBox 21"/>
          <p:cNvSpPr txBox="1"/>
          <p:nvPr/>
        </p:nvSpPr>
        <p:spPr>
          <a:xfrm>
            <a:off x="914400" y="4389120"/>
            <a:ext cx="7315200" cy="228600"/>
          </a:xfrm>
          <a:prstGeom prst="rect">
            <a:avLst/>
          </a:prstGeom>
          <a:noFill/>
        </p:spPr>
        <p:txBody>
          <a:bodyPr wrap="square">
            <a:spAutoFit/>
          </a:bodyPr>
          <a:lstStyle/>
          <a:p>
            <a:pPr algn="ctr"/>
            <a:r>
              <a:rPr sz="1100" b="1">
                <a:solidFill>
                  <a:srgbClr val="0D9488"/>
                </a:solidFill>
                <a:latin typeface="Calibri"/>
              </a:rPr>
              <a:t>Lucid Development, LLC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